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2" r:id="rId1"/>
  </p:sldMasterIdLst>
  <p:notesMasterIdLst>
    <p:notesMasterId r:id="rId26"/>
  </p:notesMasterIdLst>
  <p:sldIdLst>
    <p:sldId id="444" r:id="rId2"/>
    <p:sldId id="352" r:id="rId3"/>
    <p:sldId id="324" r:id="rId4"/>
    <p:sldId id="346" r:id="rId5"/>
    <p:sldId id="386" r:id="rId6"/>
    <p:sldId id="378" r:id="rId7"/>
    <p:sldId id="379" r:id="rId8"/>
    <p:sldId id="380" r:id="rId9"/>
    <p:sldId id="396" r:id="rId10"/>
    <p:sldId id="398" r:id="rId11"/>
    <p:sldId id="354" r:id="rId12"/>
    <p:sldId id="356" r:id="rId13"/>
    <p:sldId id="357" r:id="rId14"/>
    <p:sldId id="348" r:id="rId15"/>
    <p:sldId id="410" r:id="rId16"/>
    <p:sldId id="411" r:id="rId17"/>
    <p:sldId id="395" r:id="rId18"/>
    <p:sldId id="390" r:id="rId19"/>
    <p:sldId id="391" r:id="rId20"/>
    <p:sldId id="433" r:id="rId21"/>
    <p:sldId id="362" r:id="rId22"/>
    <p:sldId id="373" r:id="rId23"/>
    <p:sldId id="273" r:id="rId24"/>
    <p:sldId id="31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265" autoAdjust="0"/>
    <p:restoredTop sz="94660"/>
  </p:normalViewPr>
  <p:slideViewPr>
    <p:cSldViewPr>
      <p:cViewPr varScale="1">
        <p:scale>
          <a:sx n="68" d="100"/>
          <a:sy n="68" d="100"/>
        </p:scale>
        <p:origin x="-15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B915F-F181-4523-ADAB-7764E7676391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88633-A667-403A-99CA-E72B3205F91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88633-A667-403A-99CA-E72B3205F91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88633-A667-403A-99CA-E72B3205F91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90B2AC-0D0E-4AA1-B560-8FBA8BBB4A06}" type="slidenum">
              <a:rPr lang="en-US"/>
              <a:pPr/>
              <a:t>4</a:t>
            </a:fld>
            <a:endParaRPr 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88633-A667-403A-99CA-E72B3205F915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88633-A667-403A-99CA-E72B3205F915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88633-A667-403A-99CA-E72B3205F915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88633-A667-403A-99CA-E72B3205F915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73086-7DDB-4961-A8A2-FE8705D724B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73086-7DDB-4961-A8A2-FE8705D724B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73086-7DDB-4961-A8A2-FE8705D724B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88633-A667-403A-99CA-E72B3205F915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88633-A667-403A-99CA-E72B3205F915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88633-A667-403A-99CA-E72B3205F915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88633-A667-403A-99CA-E72B3205F915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73086-7DDB-4961-A8A2-FE8705D724B2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73086-7DDB-4961-A8A2-FE8705D724B2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EF1A7D-9CBA-4C1F-8994-567119532E0F}" type="slidenum">
              <a:rPr lang="en-US"/>
              <a:pPr/>
              <a:t>23</a:t>
            </a:fld>
            <a:endParaRPr lang="en-US"/>
          </a:p>
        </p:txBody>
      </p:sp>
      <p:sp>
        <p:nvSpPr>
          <p:cNvPr id="485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5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88633-A667-403A-99CA-E72B3205F915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93BAC54B-34E9-454E-A314-165A9AE86145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8487A59-301A-4EC7-9BEF-884E946B4C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3BAC54B-34E9-454E-A314-165A9AE86145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8487A59-301A-4EC7-9BEF-884E946B4C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3BAC54B-34E9-454E-A314-165A9AE86145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8487A59-301A-4EC7-9BEF-884E946B4C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C54B-34E9-454E-A314-165A9AE86145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A59-301A-4EC7-9BEF-884E946B4C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C54B-34E9-454E-A314-165A9AE86145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A59-301A-4EC7-9BEF-884E946B4C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3BAC54B-34E9-454E-A314-165A9AE86145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8487A59-301A-4EC7-9BEF-884E946B4C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C54B-34E9-454E-A314-165A9AE86145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A59-301A-4EC7-9BEF-884E946B4C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3BAC54B-34E9-454E-A314-165A9AE86145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8487A59-301A-4EC7-9BEF-884E946B4C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3BAC54B-34E9-454E-A314-165A9AE86145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8487A59-301A-4EC7-9BEF-884E946B4C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C54B-34E9-454E-A314-165A9AE86145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A59-301A-4EC7-9BEF-884E946B4C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C54B-34E9-454E-A314-165A9AE86145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A59-301A-4EC7-9BEF-884E946B4C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2147888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281488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611892A-AD45-4477-A503-913B19AE1B16}" type="slidenum">
              <a:rPr lang="en-US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3BAC54B-34E9-454E-A314-165A9AE86145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8487A59-301A-4EC7-9BEF-884E946B4C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8" r:id="rId12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hyperlink" Target="jar:file:///C:/Program%20Files/MATLAB/R2010a/help/toolbox/images/help.jar!/fspecial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 algn="ctr">
              <a:buNone/>
            </a:pPr>
            <a:endParaRPr lang="en-US" sz="4800" b="1" dirty="0" smtClean="0"/>
          </a:p>
          <a:p>
            <a:pPr algn="ctr">
              <a:buNone/>
            </a:pPr>
            <a:r>
              <a:rPr lang="en-US" sz="4800" b="1" dirty="0" smtClean="0"/>
              <a:t>IMAGE OPERATIONS</a:t>
            </a:r>
            <a:endParaRPr lang="en-US" sz="4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Filter term in </a:t>
            </a:r>
            <a:r>
              <a:rPr lang="en-US" dirty="0" smtClean="0">
                <a:latin typeface="Times New Roman"/>
              </a:rPr>
              <a:t>“</a:t>
            </a:r>
            <a:r>
              <a:rPr lang="en-US" dirty="0" smtClean="0"/>
              <a:t>Digital image processing</a:t>
            </a:r>
            <a:r>
              <a:rPr lang="en-US" dirty="0" smtClean="0">
                <a:latin typeface="Times New Roman"/>
              </a:rPr>
              <a:t>”</a:t>
            </a:r>
            <a:r>
              <a:rPr lang="en-US" dirty="0" smtClean="0"/>
              <a:t> is referred to the </a:t>
            </a:r>
            <a:r>
              <a:rPr lang="en-US" dirty="0" err="1" smtClean="0"/>
              <a:t>subimage</a:t>
            </a:r>
            <a:r>
              <a:rPr lang="en-US" dirty="0" smtClean="0"/>
              <a:t>.</a:t>
            </a:r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There are others term to call </a:t>
            </a:r>
            <a:r>
              <a:rPr lang="en-US" dirty="0" err="1" smtClean="0"/>
              <a:t>subimage</a:t>
            </a:r>
            <a:r>
              <a:rPr lang="en-US" dirty="0" smtClean="0"/>
              <a:t> such as mask, kernel, template, or window.</a:t>
            </a:r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The value in a filter </a:t>
            </a:r>
            <a:r>
              <a:rPr lang="en-US" dirty="0" err="1" smtClean="0"/>
              <a:t>subimage</a:t>
            </a:r>
            <a:r>
              <a:rPr lang="en-US" dirty="0" smtClean="0"/>
              <a:t> are referred as coefficients, rather than pixels.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Segoe UI" pitchFamily="34" charset="0"/>
                <a:cs typeface="Segoe UI" pitchFamily="34" charset="0"/>
              </a:rPr>
              <a:t>Spatial filtering</a:t>
            </a:r>
            <a:endParaRPr lang="en-US" sz="4000" b="1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Spatial filtering is a technique that uses a pixel and its neighbors to select a new value for the pixel.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/>
              <a:t>Spatial filtering term is the filtering operations that are performed directly on the pixels of an image</a:t>
            </a:r>
          </a:p>
          <a:p>
            <a:endParaRPr lang="en-US" dirty="0" smtClean="0"/>
          </a:p>
          <a:p>
            <a:r>
              <a:rPr lang="en-US" dirty="0" smtClean="0"/>
              <a:t>Steps in spatial filtering</a:t>
            </a:r>
          </a:p>
          <a:p>
            <a:pPr lvl="1"/>
            <a:r>
              <a:rPr lang="en-US" dirty="0" smtClean="0"/>
              <a:t>Defining a center point.</a:t>
            </a:r>
          </a:p>
          <a:p>
            <a:pPr lvl="1"/>
            <a:r>
              <a:rPr lang="en-US" dirty="0" smtClean="0"/>
              <a:t>Performing operation in a predefined neighborhood about the center point.</a:t>
            </a:r>
          </a:p>
          <a:p>
            <a:pPr lvl="1"/>
            <a:r>
              <a:rPr lang="en-US" dirty="0" smtClean="0"/>
              <a:t>Replace the center point by the result of operation.</a:t>
            </a:r>
          </a:p>
          <a:p>
            <a:pPr lvl="1"/>
            <a:r>
              <a:rPr lang="en-US" dirty="0" smtClean="0"/>
              <a:t>Repeat the process for every pixel in the image.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Linear filtering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140575" y="1425575"/>
            <a:ext cx="1568450" cy="1560513"/>
            <a:chOff x="3696" y="2149"/>
            <a:chExt cx="988" cy="983"/>
          </a:xfrm>
        </p:grpSpPr>
        <p:sp>
          <p:nvSpPr>
            <p:cNvPr id="19748" name="Rectangle 4"/>
            <p:cNvSpPr>
              <a:spLocks noChangeArrowheads="1"/>
            </p:cNvSpPr>
            <p:nvPr/>
          </p:nvSpPr>
          <p:spPr bwMode="auto">
            <a:xfrm>
              <a:off x="3696" y="2149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r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749" name="Rectangle 5"/>
            <p:cNvSpPr>
              <a:spLocks noChangeArrowheads="1"/>
            </p:cNvSpPr>
            <p:nvPr/>
          </p:nvSpPr>
          <p:spPr bwMode="auto">
            <a:xfrm>
              <a:off x="4025" y="2149"/>
              <a:ext cx="330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s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750" name="Rectangle 6"/>
            <p:cNvSpPr>
              <a:spLocks noChangeArrowheads="1"/>
            </p:cNvSpPr>
            <p:nvPr/>
          </p:nvSpPr>
          <p:spPr bwMode="auto">
            <a:xfrm>
              <a:off x="4355" y="2149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t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751" name="Rectangle 7"/>
            <p:cNvSpPr>
              <a:spLocks noChangeArrowheads="1"/>
            </p:cNvSpPr>
            <p:nvPr/>
          </p:nvSpPr>
          <p:spPr bwMode="auto">
            <a:xfrm>
              <a:off x="3696" y="2474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u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752" name="Rectangle 8"/>
            <p:cNvSpPr>
              <a:spLocks noChangeArrowheads="1"/>
            </p:cNvSpPr>
            <p:nvPr/>
          </p:nvSpPr>
          <p:spPr bwMode="auto">
            <a:xfrm>
              <a:off x="4025" y="2474"/>
              <a:ext cx="330" cy="329"/>
            </a:xfrm>
            <a:prstGeom prst="rect">
              <a:avLst/>
            </a:prstGeom>
            <a:solidFill>
              <a:srgbClr val="000080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v</a:t>
              </a:r>
              <a:endParaRPr lang="el-GR" sz="2400" i="1">
                <a:latin typeface="Times New Roman" pitchFamily="18" charset="0"/>
              </a:endParaRPr>
            </a:p>
          </p:txBody>
        </p:sp>
        <p:sp>
          <p:nvSpPr>
            <p:cNvPr id="19753" name="Rectangle 9"/>
            <p:cNvSpPr>
              <a:spLocks noChangeArrowheads="1"/>
            </p:cNvSpPr>
            <p:nvPr/>
          </p:nvSpPr>
          <p:spPr bwMode="auto">
            <a:xfrm>
              <a:off x="4355" y="2474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w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754" name="Rectangle 10"/>
            <p:cNvSpPr>
              <a:spLocks noChangeArrowheads="1"/>
            </p:cNvSpPr>
            <p:nvPr/>
          </p:nvSpPr>
          <p:spPr bwMode="auto">
            <a:xfrm>
              <a:off x="3696" y="2803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x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755" name="Rectangle 11"/>
            <p:cNvSpPr>
              <a:spLocks noChangeArrowheads="1"/>
            </p:cNvSpPr>
            <p:nvPr/>
          </p:nvSpPr>
          <p:spPr bwMode="auto">
            <a:xfrm>
              <a:off x="4025" y="2803"/>
              <a:ext cx="330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y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756" name="Rectangle 12"/>
            <p:cNvSpPr>
              <a:spLocks noChangeArrowheads="1"/>
            </p:cNvSpPr>
            <p:nvPr/>
          </p:nvSpPr>
          <p:spPr bwMode="auto">
            <a:xfrm>
              <a:off x="4355" y="2803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z</a:t>
              </a:r>
              <a:endParaRPr lang="en-US" sz="2400" i="1">
                <a:latin typeface="Times New Roman" pitchFamily="18" charset="0"/>
              </a:endParaRP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523875" y="1624013"/>
            <a:ext cx="3625850" cy="3384550"/>
            <a:chOff x="330" y="1023"/>
            <a:chExt cx="2284" cy="2132"/>
          </a:xfrm>
        </p:grpSpPr>
        <p:sp>
          <p:nvSpPr>
            <p:cNvPr id="19508" name="Rectangle 14"/>
            <p:cNvSpPr>
              <a:spLocks noChangeArrowheads="1"/>
            </p:cNvSpPr>
            <p:nvPr/>
          </p:nvSpPr>
          <p:spPr bwMode="auto">
            <a:xfrm>
              <a:off x="330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09" name="Rectangle 15"/>
            <p:cNvSpPr>
              <a:spLocks noChangeArrowheads="1"/>
            </p:cNvSpPr>
            <p:nvPr/>
          </p:nvSpPr>
          <p:spPr bwMode="auto">
            <a:xfrm>
              <a:off x="474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10" name="Rectangle 16"/>
            <p:cNvSpPr>
              <a:spLocks noChangeArrowheads="1"/>
            </p:cNvSpPr>
            <p:nvPr/>
          </p:nvSpPr>
          <p:spPr bwMode="auto">
            <a:xfrm>
              <a:off x="618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11" name="Rectangle 17"/>
            <p:cNvSpPr>
              <a:spLocks noChangeArrowheads="1"/>
            </p:cNvSpPr>
            <p:nvPr/>
          </p:nvSpPr>
          <p:spPr bwMode="auto">
            <a:xfrm>
              <a:off x="762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12" name="Rectangle 18"/>
            <p:cNvSpPr>
              <a:spLocks noChangeArrowheads="1"/>
            </p:cNvSpPr>
            <p:nvPr/>
          </p:nvSpPr>
          <p:spPr bwMode="auto">
            <a:xfrm>
              <a:off x="906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13" name="Rectangle 19"/>
            <p:cNvSpPr>
              <a:spLocks noChangeArrowheads="1"/>
            </p:cNvSpPr>
            <p:nvPr/>
          </p:nvSpPr>
          <p:spPr bwMode="auto">
            <a:xfrm>
              <a:off x="1045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14" name="Rectangle 20"/>
            <p:cNvSpPr>
              <a:spLocks noChangeArrowheads="1"/>
            </p:cNvSpPr>
            <p:nvPr/>
          </p:nvSpPr>
          <p:spPr bwMode="auto">
            <a:xfrm>
              <a:off x="1189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15" name="Rectangle 21"/>
            <p:cNvSpPr>
              <a:spLocks noChangeArrowheads="1"/>
            </p:cNvSpPr>
            <p:nvPr/>
          </p:nvSpPr>
          <p:spPr bwMode="auto">
            <a:xfrm>
              <a:off x="1333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16" name="Rectangle 22"/>
            <p:cNvSpPr>
              <a:spLocks noChangeArrowheads="1"/>
            </p:cNvSpPr>
            <p:nvPr/>
          </p:nvSpPr>
          <p:spPr bwMode="auto">
            <a:xfrm>
              <a:off x="1477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17" name="Rectangle 23"/>
            <p:cNvSpPr>
              <a:spLocks noChangeArrowheads="1"/>
            </p:cNvSpPr>
            <p:nvPr/>
          </p:nvSpPr>
          <p:spPr bwMode="auto">
            <a:xfrm>
              <a:off x="1616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18" name="Rectangle 24"/>
            <p:cNvSpPr>
              <a:spLocks noChangeArrowheads="1"/>
            </p:cNvSpPr>
            <p:nvPr/>
          </p:nvSpPr>
          <p:spPr bwMode="auto">
            <a:xfrm>
              <a:off x="330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19" name="Rectangle 25"/>
            <p:cNvSpPr>
              <a:spLocks noChangeArrowheads="1"/>
            </p:cNvSpPr>
            <p:nvPr/>
          </p:nvSpPr>
          <p:spPr bwMode="auto">
            <a:xfrm>
              <a:off x="474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20" name="Rectangle 26"/>
            <p:cNvSpPr>
              <a:spLocks noChangeArrowheads="1"/>
            </p:cNvSpPr>
            <p:nvPr/>
          </p:nvSpPr>
          <p:spPr bwMode="auto">
            <a:xfrm>
              <a:off x="618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21" name="Rectangle 27"/>
            <p:cNvSpPr>
              <a:spLocks noChangeArrowheads="1"/>
            </p:cNvSpPr>
            <p:nvPr/>
          </p:nvSpPr>
          <p:spPr bwMode="auto">
            <a:xfrm>
              <a:off x="762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22" name="Rectangle 28"/>
            <p:cNvSpPr>
              <a:spLocks noChangeArrowheads="1"/>
            </p:cNvSpPr>
            <p:nvPr/>
          </p:nvSpPr>
          <p:spPr bwMode="auto">
            <a:xfrm>
              <a:off x="906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23" name="Rectangle 29"/>
            <p:cNvSpPr>
              <a:spLocks noChangeArrowheads="1"/>
            </p:cNvSpPr>
            <p:nvPr/>
          </p:nvSpPr>
          <p:spPr bwMode="auto">
            <a:xfrm>
              <a:off x="1045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24" name="Rectangle 30"/>
            <p:cNvSpPr>
              <a:spLocks noChangeArrowheads="1"/>
            </p:cNvSpPr>
            <p:nvPr/>
          </p:nvSpPr>
          <p:spPr bwMode="auto">
            <a:xfrm>
              <a:off x="1189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25" name="Rectangle 31"/>
            <p:cNvSpPr>
              <a:spLocks noChangeArrowheads="1"/>
            </p:cNvSpPr>
            <p:nvPr/>
          </p:nvSpPr>
          <p:spPr bwMode="auto">
            <a:xfrm>
              <a:off x="1333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26" name="Rectangle 32"/>
            <p:cNvSpPr>
              <a:spLocks noChangeArrowheads="1"/>
            </p:cNvSpPr>
            <p:nvPr/>
          </p:nvSpPr>
          <p:spPr bwMode="auto">
            <a:xfrm>
              <a:off x="1477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27" name="Rectangle 33"/>
            <p:cNvSpPr>
              <a:spLocks noChangeArrowheads="1"/>
            </p:cNvSpPr>
            <p:nvPr/>
          </p:nvSpPr>
          <p:spPr bwMode="auto">
            <a:xfrm>
              <a:off x="1616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28" name="Rectangle 34"/>
            <p:cNvSpPr>
              <a:spLocks noChangeArrowheads="1"/>
            </p:cNvSpPr>
            <p:nvPr/>
          </p:nvSpPr>
          <p:spPr bwMode="auto">
            <a:xfrm>
              <a:off x="330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29" name="Rectangle 35"/>
            <p:cNvSpPr>
              <a:spLocks noChangeArrowheads="1"/>
            </p:cNvSpPr>
            <p:nvPr/>
          </p:nvSpPr>
          <p:spPr bwMode="auto">
            <a:xfrm>
              <a:off x="474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30" name="Rectangle 36"/>
            <p:cNvSpPr>
              <a:spLocks noChangeArrowheads="1"/>
            </p:cNvSpPr>
            <p:nvPr/>
          </p:nvSpPr>
          <p:spPr bwMode="auto">
            <a:xfrm>
              <a:off x="618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31" name="Rectangle 37"/>
            <p:cNvSpPr>
              <a:spLocks noChangeArrowheads="1"/>
            </p:cNvSpPr>
            <p:nvPr/>
          </p:nvSpPr>
          <p:spPr bwMode="auto">
            <a:xfrm>
              <a:off x="762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32" name="Rectangle 38"/>
            <p:cNvSpPr>
              <a:spLocks noChangeArrowheads="1"/>
            </p:cNvSpPr>
            <p:nvPr/>
          </p:nvSpPr>
          <p:spPr bwMode="auto">
            <a:xfrm>
              <a:off x="906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33" name="Rectangle 39"/>
            <p:cNvSpPr>
              <a:spLocks noChangeArrowheads="1"/>
            </p:cNvSpPr>
            <p:nvPr/>
          </p:nvSpPr>
          <p:spPr bwMode="auto">
            <a:xfrm>
              <a:off x="1045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34" name="Rectangle 40"/>
            <p:cNvSpPr>
              <a:spLocks noChangeArrowheads="1"/>
            </p:cNvSpPr>
            <p:nvPr/>
          </p:nvSpPr>
          <p:spPr bwMode="auto">
            <a:xfrm>
              <a:off x="1189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35" name="Rectangle 41"/>
            <p:cNvSpPr>
              <a:spLocks noChangeArrowheads="1"/>
            </p:cNvSpPr>
            <p:nvPr/>
          </p:nvSpPr>
          <p:spPr bwMode="auto">
            <a:xfrm>
              <a:off x="1333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36" name="Rectangle 42"/>
            <p:cNvSpPr>
              <a:spLocks noChangeArrowheads="1"/>
            </p:cNvSpPr>
            <p:nvPr/>
          </p:nvSpPr>
          <p:spPr bwMode="auto">
            <a:xfrm>
              <a:off x="1477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37" name="Rectangle 43"/>
            <p:cNvSpPr>
              <a:spLocks noChangeArrowheads="1"/>
            </p:cNvSpPr>
            <p:nvPr/>
          </p:nvSpPr>
          <p:spPr bwMode="auto">
            <a:xfrm>
              <a:off x="1616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38" name="Rectangle 44"/>
            <p:cNvSpPr>
              <a:spLocks noChangeArrowheads="1"/>
            </p:cNvSpPr>
            <p:nvPr/>
          </p:nvSpPr>
          <p:spPr bwMode="auto">
            <a:xfrm>
              <a:off x="330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39" name="Rectangle 45"/>
            <p:cNvSpPr>
              <a:spLocks noChangeArrowheads="1"/>
            </p:cNvSpPr>
            <p:nvPr/>
          </p:nvSpPr>
          <p:spPr bwMode="auto">
            <a:xfrm>
              <a:off x="474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40" name="Rectangle 46"/>
            <p:cNvSpPr>
              <a:spLocks noChangeArrowheads="1"/>
            </p:cNvSpPr>
            <p:nvPr/>
          </p:nvSpPr>
          <p:spPr bwMode="auto">
            <a:xfrm>
              <a:off x="618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41" name="Rectangle 47"/>
            <p:cNvSpPr>
              <a:spLocks noChangeArrowheads="1"/>
            </p:cNvSpPr>
            <p:nvPr/>
          </p:nvSpPr>
          <p:spPr bwMode="auto">
            <a:xfrm>
              <a:off x="762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42" name="Rectangle 48"/>
            <p:cNvSpPr>
              <a:spLocks noChangeArrowheads="1"/>
            </p:cNvSpPr>
            <p:nvPr/>
          </p:nvSpPr>
          <p:spPr bwMode="auto">
            <a:xfrm>
              <a:off x="906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43" name="Rectangle 49"/>
            <p:cNvSpPr>
              <a:spLocks noChangeArrowheads="1"/>
            </p:cNvSpPr>
            <p:nvPr/>
          </p:nvSpPr>
          <p:spPr bwMode="auto">
            <a:xfrm>
              <a:off x="1045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44" name="Rectangle 50"/>
            <p:cNvSpPr>
              <a:spLocks noChangeArrowheads="1"/>
            </p:cNvSpPr>
            <p:nvPr/>
          </p:nvSpPr>
          <p:spPr bwMode="auto">
            <a:xfrm>
              <a:off x="1189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45" name="Rectangle 51"/>
            <p:cNvSpPr>
              <a:spLocks noChangeArrowheads="1"/>
            </p:cNvSpPr>
            <p:nvPr/>
          </p:nvSpPr>
          <p:spPr bwMode="auto">
            <a:xfrm>
              <a:off x="1333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46" name="Rectangle 52"/>
            <p:cNvSpPr>
              <a:spLocks noChangeArrowheads="1"/>
            </p:cNvSpPr>
            <p:nvPr/>
          </p:nvSpPr>
          <p:spPr bwMode="auto">
            <a:xfrm>
              <a:off x="1477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47" name="Rectangle 53"/>
            <p:cNvSpPr>
              <a:spLocks noChangeArrowheads="1"/>
            </p:cNvSpPr>
            <p:nvPr/>
          </p:nvSpPr>
          <p:spPr bwMode="auto">
            <a:xfrm>
              <a:off x="1616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48" name="Rectangle 54"/>
            <p:cNvSpPr>
              <a:spLocks noChangeArrowheads="1"/>
            </p:cNvSpPr>
            <p:nvPr/>
          </p:nvSpPr>
          <p:spPr bwMode="auto">
            <a:xfrm>
              <a:off x="330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49" name="Rectangle 55"/>
            <p:cNvSpPr>
              <a:spLocks noChangeArrowheads="1"/>
            </p:cNvSpPr>
            <p:nvPr/>
          </p:nvSpPr>
          <p:spPr bwMode="auto">
            <a:xfrm>
              <a:off x="474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50" name="Rectangle 56"/>
            <p:cNvSpPr>
              <a:spLocks noChangeArrowheads="1"/>
            </p:cNvSpPr>
            <p:nvPr/>
          </p:nvSpPr>
          <p:spPr bwMode="auto">
            <a:xfrm>
              <a:off x="618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51" name="Rectangle 57"/>
            <p:cNvSpPr>
              <a:spLocks noChangeArrowheads="1"/>
            </p:cNvSpPr>
            <p:nvPr/>
          </p:nvSpPr>
          <p:spPr bwMode="auto">
            <a:xfrm>
              <a:off x="762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52" name="Rectangle 58"/>
            <p:cNvSpPr>
              <a:spLocks noChangeArrowheads="1"/>
            </p:cNvSpPr>
            <p:nvPr/>
          </p:nvSpPr>
          <p:spPr bwMode="auto">
            <a:xfrm>
              <a:off x="906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53" name="Rectangle 59"/>
            <p:cNvSpPr>
              <a:spLocks noChangeArrowheads="1"/>
            </p:cNvSpPr>
            <p:nvPr/>
          </p:nvSpPr>
          <p:spPr bwMode="auto">
            <a:xfrm>
              <a:off x="1045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54" name="Rectangle 60"/>
            <p:cNvSpPr>
              <a:spLocks noChangeArrowheads="1"/>
            </p:cNvSpPr>
            <p:nvPr/>
          </p:nvSpPr>
          <p:spPr bwMode="auto">
            <a:xfrm>
              <a:off x="1189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55" name="Rectangle 61"/>
            <p:cNvSpPr>
              <a:spLocks noChangeArrowheads="1"/>
            </p:cNvSpPr>
            <p:nvPr/>
          </p:nvSpPr>
          <p:spPr bwMode="auto">
            <a:xfrm>
              <a:off x="1333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56" name="Rectangle 62"/>
            <p:cNvSpPr>
              <a:spLocks noChangeArrowheads="1"/>
            </p:cNvSpPr>
            <p:nvPr/>
          </p:nvSpPr>
          <p:spPr bwMode="auto">
            <a:xfrm>
              <a:off x="1477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57" name="Rectangle 63"/>
            <p:cNvSpPr>
              <a:spLocks noChangeArrowheads="1"/>
            </p:cNvSpPr>
            <p:nvPr/>
          </p:nvSpPr>
          <p:spPr bwMode="auto">
            <a:xfrm>
              <a:off x="1616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58" name="Rectangle 64"/>
            <p:cNvSpPr>
              <a:spLocks noChangeArrowheads="1"/>
            </p:cNvSpPr>
            <p:nvPr/>
          </p:nvSpPr>
          <p:spPr bwMode="auto">
            <a:xfrm>
              <a:off x="330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59" name="Rectangle 65"/>
            <p:cNvSpPr>
              <a:spLocks noChangeArrowheads="1"/>
            </p:cNvSpPr>
            <p:nvPr/>
          </p:nvSpPr>
          <p:spPr bwMode="auto">
            <a:xfrm>
              <a:off x="474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60" name="Rectangle 66"/>
            <p:cNvSpPr>
              <a:spLocks noChangeArrowheads="1"/>
            </p:cNvSpPr>
            <p:nvPr/>
          </p:nvSpPr>
          <p:spPr bwMode="auto">
            <a:xfrm>
              <a:off x="618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61" name="Rectangle 67"/>
            <p:cNvSpPr>
              <a:spLocks noChangeArrowheads="1"/>
            </p:cNvSpPr>
            <p:nvPr/>
          </p:nvSpPr>
          <p:spPr bwMode="auto">
            <a:xfrm>
              <a:off x="762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62" name="Rectangle 68"/>
            <p:cNvSpPr>
              <a:spLocks noChangeArrowheads="1"/>
            </p:cNvSpPr>
            <p:nvPr/>
          </p:nvSpPr>
          <p:spPr bwMode="auto">
            <a:xfrm>
              <a:off x="906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63" name="Rectangle 69"/>
            <p:cNvSpPr>
              <a:spLocks noChangeArrowheads="1"/>
            </p:cNvSpPr>
            <p:nvPr/>
          </p:nvSpPr>
          <p:spPr bwMode="auto">
            <a:xfrm>
              <a:off x="1045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64" name="Rectangle 70"/>
            <p:cNvSpPr>
              <a:spLocks noChangeArrowheads="1"/>
            </p:cNvSpPr>
            <p:nvPr/>
          </p:nvSpPr>
          <p:spPr bwMode="auto">
            <a:xfrm>
              <a:off x="1189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65" name="Rectangle 71"/>
            <p:cNvSpPr>
              <a:spLocks noChangeArrowheads="1"/>
            </p:cNvSpPr>
            <p:nvPr/>
          </p:nvSpPr>
          <p:spPr bwMode="auto">
            <a:xfrm>
              <a:off x="1333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66" name="Rectangle 72"/>
            <p:cNvSpPr>
              <a:spLocks noChangeArrowheads="1"/>
            </p:cNvSpPr>
            <p:nvPr/>
          </p:nvSpPr>
          <p:spPr bwMode="auto">
            <a:xfrm>
              <a:off x="1477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67" name="Rectangle 73"/>
            <p:cNvSpPr>
              <a:spLocks noChangeArrowheads="1"/>
            </p:cNvSpPr>
            <p:nvPr/>
          </p:nvSpPr>
          <p:spPr bwMode="auto">
            <a:xfrm>
              <a:off x="1616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68" name="Rectangle 74"/>
            <p:cNvSpPr>
              <a:spLocks noChangeArrowheads="1"/>
            </p:cNvSpPr>
            <p:nvPr/>
          </p:nvSpPr>
          <p:spPr bwMode="auto">
            <a:xfrm>
              <a:off x="330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69" name="Rectangle 75"/>
            <p:cNvSpPr>
              <a:spLocks noChangeArrowheads="1"/>
            </p:cNvSpPr>
            <p:nvPr/>
          </p:nvSpPr>
          <p:spPr bwMode="auto">
            <a:xfrm>
              <a:off x="474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70" name="Rectangle 76"/>
            <p:cNvSpPr>
              <a:spLocks noChangeArrowheads="1"/>
            </p:cNvSpPr>
            <p:nvPr/>
          </p:nvSpPr>
          <p:spPr bwMode="auto">
            <a:xfrm>
              <a:off x="618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71" name="Rectangle 77"/>
            <p:cNvSpPr>
              <a:spLocks noChangeArrowheads="1"/>
            </p:cNvSpPr>
            <p:nvPr/>
          </p:nvSpPr>
          <p:spPr bwMode="auto">
            <a:xfrm>
              <a:off x="762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72" name="Rectangle 78"/>
            <p:cNvSpPr>
              <a:spLocks noChangeArrowheads="1"/>
            </p:cNvSpPr>
            <p:nvPr/>
          </p:nvSpPr>
          <p:spPr bwMode="auto">
            <a:xfrm>
              <a:off x="906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73" name="Rectangle 79"/>
            <p:cNvSpPr>
              <a:spLocks noChangeArrowheads="1"/>
            </p:cNvSpPr>
            <p:nvPr/>
          </p:nvSpPr>
          <p:spPr bwMode="auto">
            <a:xfrm>
              <a:off x="1045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74" name="Rectangle 80"/>
            <p:cNvSpPr>
              <a:spLocks noChangeArrowheads="1"/>
            </p:cNvSpPr>
            <p:nvPr/>
          </p:nvSpPr>
          <p:spPr bwMode="auto">
            <a:xfrm>
              <a:off x="1189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75" name="Rectangle 81"/>
            <p:cNvSpPr>
              <a:spLocks noChangeArrowheads="1"/>
            </p:cNvSpPr>
            <p:nvPr/>
          </p:nvSpPr>
          <p:spPr bwMode="auto">
            <a:xfrm>
              <a:off x="1333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76" name="Rectangle 82"/>
            <p:cNvSpPr>
              <a:spLocks noChangeArrowheads="1"/>
            </p:cNvSpPr>
            <p:nvPr/>
          </p:nvSpPr>
          <p:spPr bwMode="auto">
            <a:xfrm>
              <a:off x="1477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77" name="Rectangle 83"/>
            <p:cNvSpPr>
              <a:spLocks noChangeArrowheads="1"/>
            </p:cNvSpPr>
            <p:nvPr/>
          </p:nvSpPr>
          <p:spPr bwMode="auto">
            <a:xfrm>
              <a:off x="1616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78" name="Rectangle 84"/>
            <p:cNvSpPr>
              <a:spLocks noChangeArrowheads="1"/>
            </p:cNvSpPr>
            <p:nvPr/>
          </p:nvSpPr>
          <p:spPr bwMode="auto">
            <a:xfrm>
              <a:off x="330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79" name="Rectangle 85"/>
            <p:cNvSpPr>
              <a:spLocks noChangeArrowheads="1"/>
            </p:cNvSpPr>
            <p:nvPr/>
          </p:nvSpPr>
          <p:spPr bwMode="auto">
            <a:xfrm>
              <a:off x="474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80" name="Rectangle 86"/>
            <p:cNvSpPr>
              <a:spLocks noChangeArrowheads="1"/>
            </p:cNvSpPr>
            <p:nvPr/>
          </p:nvSpPr>
          <p:spPr bwMode="auto">
            <a:xfrm>
              <a:off x="618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81" name="Rectangle 87"/>
            <p:cNvSpPr>
              <a:spLocks noChangeArrowheads="1"/>
            </p:cNvSpPr>
            <p:nvPr/>
          </p:nvSpPr>
          <p:spPr bwMode="auto">
            <a:xfrm>
              <a:off x="762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82" name="Rectangle 88"/>
            <p:cNvSpPr>
              <a:spLocks noChangeArrowheads="1"/>
            </p:cNvSpPr>
            <p:nvPr/>
          </p:nvSpPr>
          <p:spPr bwMode="auto">
            <a:xfrm>
              <a:off x="906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83" name="Rectangle 89"/>
            <p:cNvSpPr>
              <a:spLocks noChangeArrowheads="1"/>
            </p:cNvSpPr>
            <p:nvPr/>
          </p:nvSpPr>
          <p:spPr bwMode="auto">
            <a:xfrm>
              <a:off x="1045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84" name="Rectangle 90"/>
            <p:cNvSpPr>
              <a:spLocks noChangeArrowheads="1"/>
            </p:cNvSpPr>
            <p:nvPr/>
          </p:nvSpPr>
          <p:spPr bwMode="auto">
            <a:xfrm>
              <a:off x="1189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85" name="Rectangle 91"/>
            <p:cNvSpPr>
              <a:spLocks noChangeArrowheads="1"/>
            </p:cNvSpPr>
            <p:nvPr/>
          </p:nvSpPr>
          <p:spPr bwMode="auto">
            <a:xfrm>
              <a:off x="1333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86" name="Rectangle 92"/>
            <p:cNvSpPr>
              <a:spLocks noChangeArrowheads="1"/>
            </p:cNvSpPr>
            <p:nvPr/>
          </p:nvSpPr>
          <p:spPr bwMode="auto">
            <a:xfrm>
              <a:off x="1477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87" name="Rectangle 93"/>
            <p:cNvSpPr>
              <a:spLocks noChangeArrowheads="1"/>
            </p:cNvSpPr>
            <p:nvPr/>
          </p:nvSpPr>
          <p:spPr bwMode="auto">
            <a:xfrm>
              <a:off x="1616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88" name="Rectangle 94"/>
            <p:cNvSpPr>
              <a:spLocks noChangeArrowheads="1"/>
            </p:cNvSpPr>
            <p:nvPr/>
          </p:nvSpPr>
          <p:spPr bwMode="auto">
            <a:xfrm>
              <a:off x="330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89" name="Rectangle 95"/>
            <p:cNvSpPr>
              <a:spLocks noChangeArrowheads="1"/>
            </p:cNvSpPr>
            <p:nvPr/>
          </p:nvSpPr>
          <p:spPr bwMode="auto">
            <a:xfrm>
              <a:off x="474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90" name="Rectangle 96"/>
            <p:cNvSpPr>
              <a:spLocks noChangeArrowheads="1"/>
            </p:cNvSpPr>
            <p:nvPr/>
          </p:nvSpPr>
          <p:spPr bwMode="auto">
            <a:xfrm>
              <a:off x="618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91" name="Rectangle 97"/>
            <p:cNvSpPr>
              <a:spLocks noChangeArrowheads="1"/>
            </p:cNvSpPr>
            <p:nvPr/>
          </p:nvSpPr>
          <p:spPr bwMode="auto">
            <a:xfrm>
              <a:off x="762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92" name="Rectangle 98"/>
            <p:cNvSpPr>
              <a:spLocks noChangeArrowheads="1"/>
            </p:cNvSpPr>
            <p:nvPr/>
          </p:nvSpPr>
          <p:spPr bwMode="auto">
            <a:xfrm>
              <a:off x="906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93" name="Rectangle 99"/>
            <p:cNvSpPr>
              <a:spLocks noChangeArrowheads="1"/>
            </p:cNvSpPr>
            <p:nvPr/>
          </p:nvSpPr>
          <p:spPr bwMode="auto">
            <a:xfrm>
              <a:off x="1045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94" name="Rectangle 100"/>
            <p:cNvSpPr>
              <a:spLocks noChangeArrowheads="1"/>
            </p:cNvSpPr>
            <p:nvPr/>
          </p:nvSpPr>
          <p:spPr bwMode="auto">
            <a:xfrm>
              <a:off x="1189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95" name="Rectangle 101"/>
            <p:cNvSpPr>
              <a:spLocks noChangeArrowheads="1"/>
            </p:cNvSpPr>
            <p:nvPr/>
          </p:nvSpPr>
          <p:spPr bwMode="auto">
            <a:xfrm>
              <a:off x="1333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96" name="Rectangle 102"/>
            <p:cNvSpPr>
              <a:spLocks noChangeArrowheads="1"/>
            </p:cNvSpPr>
            <p:nvPr/>
          </p:nvSpPr>
          <p:spPr bwMode="auto">
            <a:xfrm>
              <a:off x="1477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97" name="Rectangle 103"/>
            <p:cNvSpPr>
              <a:spLocks noChangeArrowheads="1"/>
            </p:cNvSpPr>
            <p:nvPr/>
          </p:nvSpPr>
          <p:spPr bwMode="auto">
            <a:xfrm>
              <a:off x="1616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98" name="Rectangle 104"/>
            <p:cNvSpPr>
              <a:spLocks noChangeArrowheads="1"/>
            </p:cNvSpPr>
            <p:nvPr/>
          </p:nvSpPr>
          <p:spPr bwMode="auto">
            <a:xfrm>
              <a:off x="330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599" name="Rectangle 105"/>
            <p:cNvSpPr>
              <a:spLocks noChangeArrowheads="1"/>
            </p:cNvSpPr>
            <p:nvPr/>
          </p:nvSpPr>
          <p:spPr bwMode="auto">
            <a:xfrm>
              <a:off x="474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00" name="Rectangle 106"/>
            <p:cNvSpPr>
              <a:spLocks noChangeArrowheads="1"/>
            </p:cNvSpPr>
            <p:nvPr/>
          </p:nvSpPr>
          <p:spPr bwMode="auto">
            <a:xfrm>
              <a:off x="618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01" name="Rectangle 107"/>
            <p:cNvSpPr>
              <a:spLocks noChangeArrowheads="1"/>
            </p:cNvSpPr>
            <p:nvPr/>
          </p:nvSpPr>
          <p:spPr bwMode="auto">
            <a:xfrm>
              <a:off x="762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02" name="Rectangle 108"/>
            <p:cNvSpPr>
              <a:spLocks noChangeArrowheads="1"/>
            </p:cNvSpPr>
            <p:nvPr/>
          </p:nvSpPr>
          <p:spPr bwMode="auto">
            <a:xfrm>
              <a:off x="906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03" name="Rectangle 109"/>
            <p:cNvSpPr>
              <a:spLocks noChangeArrowheads="1"/>
            </p:cNvSpPr>
            <p:nvPr/>
          </p:nvSpPr>
          <p:spPr bwMode="auto">
            <a:xfrm>
              <a:off x="1045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04" name="Rectangle 110"/>
            <p:cNvSpPr>
              <a:spLocks noChangeArrowheads="1"/>
            </p:cNvSpPr>
            <p:nvPr/>
          </p:nvSpPr>
          <p:spPr bwMode="auto">
            <a:xfrm>
              <a:off x="1189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05" name="Rectangle 111"/>
            <p:cNvSpPr>
              <a:spLocks noChangeArrowheads="1"/>
            </p:cNvSpPr>
            <p:nvPr/>
          </p:nvSpPr>
          <p:spPr bwMode="auto">
            <a:xfrm>
              <a:off x="1333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06" name="Rectangle 112"/>
            <p:cNvSpPr>
              <a:spLocks noChangeArrowheads="1"/>
            </p:cNvSpPr>
            <p:nvPr/>
          </p:nvSpPr>
          <p:spPr bwMode="auto">
            <a:xfrm>
              <a:off x="1477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07" name="Rectangle 113"/>
            <p:cNvSpPr>
              <a:spLocks noChangeArrowheads="1"/>
            </p:cNvSpPr>
            <p:nvPr/>
          </p:nvSpPr>
          <p:spPr bwMode="auto">
            <a:xfrm>
              <a:off x="1616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08" name="Rectangle 114"/>
            <p:cNvSpPr>
              <a:spLocks noChangeArrowheads="1"/>
            </p:cNvSpPr>
            <p:nvPr/>
          </p:nvSpPr>
          <p:spPr bwMode="auto">
            <a:xfrm>
              <a:off x="1755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09" name="Rectangle 115"/>
            <p:cNvSpPr>
              <a:spLocks noChangeArrowheads="1"/>
            </p:cNvSpPr>
            <p:nvPr/>
          </p:nvSpPr>
          <p:spPr bwMode="auto">
            <a:xfrm>
              <a:off x="1899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10" name="Rectangle 116"/>
            <p:cNvSpPr>
              <a:spLocks noChangeArrowheads="1"/>
            </p:cNvSpPr>
            <p:nvPr/>
          </p:nvSpPr>
          <p:spPr bwMode="auto">
            <a:xfrm>
              <a:off x="2043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11" name="Rectangle 117"/>
            <p:cNvSpPr>
              <a:spLocks noChangeArrowheads="1"/>
            </p:cNvSpPr>
            <p:nvPr/>
          </p:nvSpPr>
          <p:spPr bwMode="auto">
            <a:xfrm>
              <a:off x="2187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12" name="Rectangle 118"/>
            <p:cNvSpPr>
              <a:spLocks noChangeArrowheads="1"/>
            </p:cNvSpPr>
            <p:nvPr/>
          </p:nvSpPr>
          <p:spPr bwMode="auto">
            <a:xfrm>
              <a:off x="2331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13" name="Rectangle 119"/>
            <p:cNvSpPr>
              <a:spLocks noChangeArrowheads="1"/>
            </p:cNvSpPr>
            <p:nvPr/>
          </p:nvSpPr>
          <p:spPr bwMode="auto">
            <a:xfrm>
              <a:off x="2470" y="1023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14" name="Rectangle 120"/>
            <p:cNvSpPr>
              <a:spLocks noChangeArrowheads="1"/>
            </p:cNvSpPr>
            <p:nvPr/>
          </p:nvSpPr>
          <p:spPr bwMode="auto">
            <a:xfrm>
              <a:off x="1755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15" name="Rectangle 121"/>
            <p:cNvSpPr>
              <a:spLocks noChangeArrowheads="1"/>
            </p:cNvSpPr>
            <p:nvPr/>
          </p:nvSpPr>
          <p:spPr bwMode="auto">
            <a:xfrm>
              <a:off x="1899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16" name="Rectangle 122"/>
            <p:cNvSpPr>
              <a:spLocks noChangeArrowheads="1"/>
            </p:cNvSpPr>
            <p:nvPr/>
          </p:nvSpPr>
          <p:spPr bwMode="auto">
            <a:xfrm>
              <a:off x="2043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17" name="Rectangle 123"/>
            <p:cNvSpPr>
              <a:spLocks noChangeArrowheads="1"/>
            </p:cNvSpPr>
            <p:nvPr/>
          </p:nvSpPr>
          <p:spPr bwMode="auto">
            <a:xfrm>
              <a:off x="2187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18" name="Rectangle 124"/>
            <p:cNvSpPr>
              <a:spLocks noChangeArrowheads="1"/>
            </p:cNvSpPr>
            <p:nvPr/>
          </p:nvSpPr>
          <p:spPr bwMode="auto">
            <a:xfrm>
              <a:off x="2331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19" name="Rectangle 125"/>
            <p:cNvSpPr>
              <a:spLocks noChangeArrowheads="1"/>
            </p:cNvSpPr>
            <p:nvPr/>
          </p:nvSpPr>
          <p:spPr bwMode="auto">
            <a:xfrm>
              <a:off x="2470" y="1165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20" name="Rectangle 126"/>
            <p:cNvSpPr>
              <a:spLocks noChangeArrowheads="1"/>
            </p:cNvSpPr>
            <p:nvPr/>
          </p:nvSpPr>
          <p:spPr bwMode="auto">
            <a:xfrm>
              <a:off x="1755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21" name="Rectangle 127"/>
            <p:cNvSpPr>
              <a:spLocks noChangeArrowheads="1"/>
            </p:cNvSpPr>
            <p:nvPr/>
          </p:nvSpPr>
          <p:spPr bwMode="auto">
            <a:xfrm>
              <a:off x="1899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22" name="Rectangle 128"/>
            <p:cNvSpPr>
              <a:spLocks noChangeArrowheads="1"/>
            </p:cNvSpPr>
            <p:nvPr/>
          </p:nvSpPr>
          <p:spPr bwMode="auto">
            <a:xfrm>
              <a:off x="2043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23" name="Rectangle 129"/>
            <p:cNvSpPr>
              <a:spLocks noChangeArrowheads="1"/>
            </p:cNvSpPr>
            <p:nvPr/>
          </p:nvSpPr>
          <p:spPr bwMode="auto">
            <a:xfrm>
              <a:off x="2187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24" name="Rectangle 130"/>
            <p:cNvSpPr>
              <a:spLocks noChangeArrowheads="1"/>
            </p:cNvSpPr>
            <p:nvPr/>
          </p:nvSpPr>
          <p:spPr bwMode="auto">
            <a:xfrm>
              <a:off x="2331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25" name="Rectangle 131"/>
            <p:cNvSpPr>
              <a:spLocks noChangeArrowheads="1"/>
            </p:cNvSpPr>
            <p:nvPr/>
          </p:nvSpPr>
          <p:spPr bwMode="auto">
            <a:xfrm>
              <a:off x="2470" y="1309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26" name="Rectangle 132"/>
            <p:cNvSpPr>
              <a:spLocks noChangeArrowheads="1"/>
            </p:cNvSpPr>
            <p:nvPr/>
          </p:nvSpPr>
          <p:spPr bwMode="auto">
            <a:xfrm>
              <a:off x="1755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27" name="Rectangle 133"/>
            <p:cNvSpPr>
              <a:spLocks noChangeArrowheads="1"/>
            </p:cNvSpPr>
            <p:nvPr/>
          </p:nvSpPr>
          <p:spPr bwMode="auto">
            <a:xfrm>
              <a:off x="1899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28" name="Rectangle 134"/>
            <p:cNvSpPr>
              <a:spLocks noChangeArrowheads="1"/>
            </p:cNvSpPr>
            <p:nvPr/>
          </p:nvSpPr>
          <p:spPr bwMode="auto">
            <a:xfrm>
              <a:off x="2043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29" name="Rectangle 135"/>
            <p:cNvSpPr>
              <a:spLocks noChangeArrowheads="1"/>
            </p:cNvSpPr>
            <p:nvPr/>
          </p:nvSpPr>
          <p:spPr bwMode="auto">
            <a:xfrm>
              <a:off x="2187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30" name="Rectangle 136"/>
            <p:cNvSpPr>
              <a:spLocks noChangeArrowheads="1"/>
            </p:cNvSpPr>
            <p:nvPr/>
          </p:nvSpPr>
          <p:spPr bwMode="auto">
            <a:xfrm>
              <a:off x="2331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31" name="Rectangle 137"/>
            <p:cNvSpPr>
              <a:spLocks noChangeArrowheads="1"/>
            </p:cNvSpPr>
            <p:nvPr/>
          </p:nvSpPr>
          <p:spPr bwMode="auto">
            <a:xfrm>
              <a:off x="2470" y="145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32" name="Rectangle 138"/>
            <p:cNvSpPr>
              <a:spLocks noChangeArrowheads="1"/>
            </p:cNvSpPr>
            <p:nvPr/>
          </p:nvSpPr>
          <p:spPr bwMode="auto">
            <a:xfrm>
              <a:off x="1755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33" name="Rectangle 139"/>
            <p:cNvSpPr>
              <a:spLocks noChangeArrowheads="1"/>
            </p:cNvSpPr>
            <p:nvPr/>
          </p:nvSpPr>
          <p:spPr bwMode="auto">
            <a:xfrm>
              <a:off x="1899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34" name="Rectangle 140"/>
            <p:cNvSpPr>
              <a:spLocks noChangeArrowheads="1"/>
            </p:cNvSpPr>
            <p:nvPr/>
          </p:nvSpPr>
          <p:spPr bwMode="auto">
            <a:xfrm>
              <a:off x="2043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35" name="Rectangle 141"/>
            <p:cNvSpPr>
              <a:spLocks noChangeArrowheads="1"/>
            </p:cNvSpPr>
            <p:nvPr/>
          </p:nvSpPr>
          <p:spPr bwMode="auto">
            <a:xfrm>
              <a:off x="2187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36" name="Rectangle 142"/>
            <p:cNvSpPr>
              <a:spLocks noChangeArrowheads="1"/>
            </p:cNvSpPr>
            <p:nvPr/>
          </p:nvSpPr>
          <p:spPr bwMode="auto">
            <a:xfrm>
              <a:off x="2331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37" name="Rectangle 143"/>
            <p:cNvSpPr>
              <a:spLocks noChangeArrowheads="1"/>
            </p:cNvSpPr>
            <p:nvPr/>
          </p:nvSpPr>
          <p:spPr bwMode="auto">
            <a:xfrm>
              <a:off x="2470" y="1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38" name="Rectangle 144"/>
            <p:cNvSpPr>
              <a:spLocks noChangeArrowheads="1"/>
            </p:cNvSpPr>
            <p:nvPr/>
          </p:nvSpPr>
          <p:spPr bwMode="auto">
            <a:xfrm>
              <a:off x="1755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39" name="Rectangle 145"/>
            <p:cNvSpPr>
              <a:spLocks noChangeArrowheads="1"/>
            </p:cNvSpPr>
            <p:nvPr/>
          </p:nvSpPr>
          <p:spPr bwMode="auto">
            <a:xfrm>
              <a:off x="1899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40" name="Rectangle 146"/>
            <p:cNvSpPr>
              <a:spLocks noChangeArrowheads="1"/>
            </p:cNvSpPr>
            <p:nvPr/>
          </p:nvSpPr>
          <p:spPr bwMode="auto">
            <a:xfrm>
              <a:off x="2043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41" name="Rectangle 147"/>
            <p:cNvSpPr>
              <a:spLocks noChangeArrowheads="1"/>
            </p:cNvSpPr>
            <p:nvPr/>
          </p:nvSpPr>
          <p:spPr bwMode="auto">
            <a:xfrm>
              <a:off x="2187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42" name="Rectangle 148"/>
            <p:cNvSpPr>
              <a:spLocks noChangeArrowheads="1"/>
            </p:cNvSpPr>
            <p:nvPr/>
          </p:nvSpPr>
          <p:spPr bwMode="auto">
            <a:xfrm>
              <a:off x="2331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43" name="Rectangle 149"/>
            <p:cNvSpPr>
              <a:spLocks noChangeArrowheads="1"/>
            </p:cNvSpPr>
            <p:nvPr/>
          </p:nvSpPr>
          <p:spPr bwMode="auto">
            <a:xfrm>
              <a:off x="2470" y="1730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44" name="Rectangle 150"/>
            <p:cNvSpPr>
              <a:spLocks noChangeArrowheads="1"/>
            </p:cNvSpPr>
            <p:nvPr/>
          </p:nvSpPr>
          <p:spPr bwMode="auto">
            <a:xfrm>
              <a:off x="1755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45" name="Rectangle 151"/>
            <p:cNvSpPr>
              <a:spLocks noChangeArrowheads="1"/>
            </p:cNvSpPr>
            <p:nvPr/>
          </p:nvSpPr>
          <p:spPr bwMode="auto">
            <a:xfrm>
              <a:off x="1899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46" name="Rectangle 152"/>
            <p:cNvSpPr>
              <a:spLocks noChangeArrowheads="1"/>
            </p:cNvSpPr>
            <p:nvPr/>
          </p:nvSpPr>
          <p:spPr bwMode="auto">
            <a:xfrm>
              <a:off x="2043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47" name="Rectangle 153"/>
            <p:cNvSpPr>
              <a:spLocks noChangeArrowheads="1"/>
            </p:cNvSpPr>
            <p:nvPr/>
          </p:nvSpPr>
          <p:spPr bwMode="auto">
            <a:xfrm>
              <a:off x="2187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48" name="Rectangle 154"/>
            <p:cNvSpPr>
              <a:spLocks noChangeArrowheads="1"/>
            </p:cNvSpPr>
            <p:nvPr/>
          </p:nvSpPr>
          <p:spPr bwMode="auto">
            <a:xfrm>
              <a:off x="2331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49" name="Rectangle 155"/>
            <p:cNvSpPr>
              <a:spLocks noChangeArrowheads="1"/>
            </p:cNvSpPr>
            <p:nvPr/>
          </p:nvSpPr>
          <p:spPr bwMode="auto">
            <a:xfrm>
              <a:off x="2470" y="1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50" name="Rectangle 156"/>
            <p:cNvSpPr>
              <a:spLocks noChangeArrowheads="1"/>
            </p:cNvSpPr>
            <p:nvPr/>
          </p:nvSpPr>
          <p:spPr bwMode="auto">
            <a:xfrm>
              <a:off x="1755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51" name="Rectangle 157"/>
            <p:cNvSpPr>
              <a:spLocks noChangeArrowheads="1"/>
            </p:cNvSpPr>
            <p:nvPr/>
          </p:nvSpPr>
          <p:spPr bwMode="auto">
            <a:xfrm>
              <a:off x="1899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52" name="Rectangle 158"/>
            <p:cNvSpPr>
              <a:spLocks noChangeArrowheads="1"/>
            </p:cNvSpPr>
            <p:nvPr/>
          </p:nvSpPr>
          <p:spPr bwMode="auto">
            <a:xfrm>
              <a:off x="2043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53" name="Rectangle 159"/>
            <p:cNvSpPr>
              <a:spLocks noChangeArrowheads="1"/>
            </p:cNvSpPr>
            <p:nvPr/>
          </p:nvSpPr>
          <p:spPr bwMode="auto">
            <a:xfrm>
              <a:off x="2187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54" name="Rectangle 160"/>
            <p:cNvSpPr>
              <a:spLocks noChangeArrowheads="1"/>
            </p:cNvSpPr>
            <p:nvPr/>
          </p:nvSpPr>
          <p:spPr bwMode="auto">
            <a:xfrm>
              <a:off x="2331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55" name="Rectangle 161"/>
            <p:cNvSpPr>
              <a:spLocks noChangeArrowheads="1"/>
            </p:cNvSpPr>
            <p:nvPr/>
          </p:nvSpPr>
          <p:spPr bwMode="auto">
            <a:xfrm>
              <a:off x="2470" y="201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56" name="Rectangle 162"/>
            <p:cNvSpPr>
              <a:spLocks noChangeArrowheads="1"/>
            </p:cNvSpPr>
            <p:nvPr/>
          </p:nvSpPr>
          <p:spPr bwMode="auto">
            <a:xfrm>
              <a:off x="1755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/>
              <a:endParaRPr lang="en-GB"/>
            </a:p>
          </p:txBody>
        </p:sp>
        <p:sp>
          <p:nvSpPr>
            <p:cNvPr id="19657" name="Rectangle 163"/>
            <p:cNvSpPr>
              <a:spLocks noChangeArrowheads="1"/>
            </p:cNvSpPr>
            <p:nvPr/>
          </p:nvSpPr>
          <p:spPr bwMode="auto">
            <a:xfrm>
              <a:off x="1899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58" name="Rectangle 164"/>
            <p:cNvSpPr>
              <a:spLocks noChangeArrowheads="1"/>
            </p:cNvSpPr>
            <p:nvPr/>
          </p:nvSpPr>
          <p:spPr bwMode="auto">
            <a:xfrm>
              <a:off x="2043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59" name="Rectangle 165"/>
            <p:cNvSpPr>
              <a:spLocks noChangeArrowheads="1"/>
            </p:cNvSpPr>
            <p:nvPr/>
          </p:nvSpPr>
          <p:spPr bwMode="auto">
            <a:xfrm>
              <a:off x="2187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60" name="Rectangle 166"/>
            <p:cNvSpPr>
              <a:spLocks noChangeArrowheads="1"/>
            </p:cNvSpPr>
            <p:nvPr/>
          </p:nvSpPr>
          <p:spPr bwMode="auto">
            <a:xfrm>
              <a:off x="2331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61" name="Rectangle 167"/>
            <p:cNvSpPr>
              <a:spLocks noChangeArrowheads="1"/>
            </p:cNvSpPr>
            <p:nvPr/>
          </p:nvSpPr>
          <p:spPr bwMode="auto">
            <a:xfrm>
              <a:off x="2470" y="216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62" name="Rectangle 168"/>
            <p:cNvSpPr>
              <a:spLocks noChangeArrowheads="1"/>
            </p:cNvSpPr>
            <p:nvPr/>
          </p:nvSpPr>
          <p:spPr bwMode="auto">
            <a:xfrm>
              <a:off x="1755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63" name="Rectangle 169"/>
            <p:cNvSpPr>
              <a:spLocks noChangeArrowheads="1"/>
            </p:cNvSpPr>
            <p:nvPr/>
          </p:nvSpPr>
          <p:spPr bwMode="auto">
            <a:xfrm>
              <a:off x="1899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64" name="Rectangle 170"/>
            <p:cNvSpPr>
              <a:spLocks noChangeArrowheads="1"/>
            </p:cNvSpPr>
            <p:nvPr/>
          </p:nvSpPr>
          <p:spPr bwMode="auto">
            <a:xfrm>
              <a:off x="2043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65" name="Rectangle 171"/>
            <p:cNvSpPr>
              <a:spLocks noChangeArrowheads="1"/>
            </p:cNvSpPr>
            <p:nvPr/>
          </p:nvSpPr>
          <p:spPr bwMode="auto">
            <a:xfrm>
              <a:off x="2187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66" name="Rectangle 172"/>
            <p:cNvSpPr>
              <a:spLocks noChangeArrowheads="1"/>
            </p:cNvSpPr>
            <p:nvPr/>
          </p:nvSpPr>
          <p:spPr bwMode="auto">
            <a:xfrm>
              <a:off x="2331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67" name="Rectangle 173"/>
            <p:cNvSpPr>
              <a:spLocks noChangeArrowheads="1"/>
            </p:cNvSpPr>
            <p:nvPr/>
          </p:nvSpPr>
          <p:spPr bwMode="auto">
            <a:xfrm>
              <a:off x="2470" y="230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68" name="Rectangle 174"/>
            <p:cNvSpPr>
              <a:spLocks noChangeArrowheads="1"/>
            </p:cNvSpPr>
            <p:nvPr/>
          </p:nvSpPr>
          <p:spPr bwMode="auto">
            <a:xfrm>
              <a:off x="330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69" name="Rectangle 175"/>
            <p:cNvSpPr>
              <a:spLocks noChangeArrowheads="1"/>
            </p:cNvSpPr>
            <p:nvPr/>
          </p:nvSpPr>
          <p:spPr bwMode="auto">
            <a:xfrm>
              <a:off x="474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70" name="Rectangle 176"/>
            <p:cNvSpPr>
              <a:spLocks noChangeArrowheads="1"/>
            </p:cNvSpPr>
            <p:nvPr/>
          </p:nvSpPr>
          <p:spPr bwMode="auto">
            <a:xfrm>
              <a:off x="618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71" name="Rectangle 177"/>
            <p:cNvSpPr>
              <a:spLocks noChangeArrowheads="1"/>
            </p:cNvSpPr>
            <p:nvPr/>
          </p:nvSpPr>
          <p:spPr bwMode="auto">
            <a:xfrm>
              <a:off x="762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72" name="Rectangle 178"/>
            <p:cNvSpPr>
              <a:spLocks noChangeArrowheads="1"/>
            </p:cNvSpPr>
            <p:nvPr/>
          </p:nvSpPr>
          <p:spPr bwMode="auto">
            <a:xfrm>
              <a:off x="906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73" name="Rectangle 179"/>
            <p:cNvSpPr>
              <a:spLocks noChangeArrowheads="1"/>
            </p:cNvSpPr>
            <p:nvPr/>
          </p:nvSpPr>
          <p:spPr bwMode="auto">
            <a:xfrm>
              <a:off x="1045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74" name="Rectangle 180"/>
            <p:cNvSpPr>
              <a:spLocks noChangeArrowheads="1"/>
            </p:cNvSpPr>
            <p:nvPr/>
          </p:nvSpPr>
          <p:spPr bwMode="auto">
            <a:xfrm>
              <a:off x="1189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75" name="Rectangle 181"/>
            <p:cNvSpPr>
              <a:spLocks noChangeArrowheads="1"/>
            </p:cNvSpPr>
            <p:nvPr/>
          </p:nvSpPr>
          <p:spPr bwMode="auto">
            <a:xfrm>
              <a:off x="1333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76" name="Rectangle 182"/>
            <p:cNvSpPr>
              <a:spLocks noChangeArrowheads="1"/>
            </p:cNvSpPr>
            <p:nvPr/>
          </p:nvSpPr>
          <p:spPr bwMode="auto">
            <a:xfrm>
              <a:off x="1477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77" name="Rectangle 183"/>
            <p:cNvSpPr>
              <a:spLocks noChangeArrowheads="1"/>
            </p:cNvSpPr>
            <p:nvPr/>
          </p:nvSpPr>
          <p:spPr bwMode="auto">
            <a:xfrm>
              <a:off x="1616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78" name="Rectangle 184"/>
            <p:cNvSpPr>
              <a:spLocks noChangeArrowheads="1"/>
            </p:cNvSpPr>
            <p:nvPr/>
          </p:nvSpPr>
          <p:spPr bwMode="auto">
            <a:xfrm>
              <a:off x="330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79" name="Rectangle 185"/>
            <p:cNvSpPr>
              <a:spLocks noChangeArrowheads="1"/>
            </p:cNvSpPr>
            <p:nvPr/>
          </p:nvSpPr>
          <p:spPr bwMode="auto">
            <a:xfrm>
              <a:off x="474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80" name="Rectangle 186"/>
            <p:cNvSpPr>
              <a:spLocks noChangeArrowheads="1"/>
            </p:cNvSpPr>
            <p:nvPr/>
          </p:nvSpPr>
          <p:spPr bwMode="auto">
            <a:xfrm>
              <a:off x="618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81" name="Rectangle 187"/>
            <p:cNvSpPr>
              <a:spLocks noChangeArrowheads="1"/>
            </p:cNvSpPr>
            <p:nvPr/>
          </p:nvSpPr>
          <p:spPr bwMode="auto">
            <a:xfrm>
              <a:off x="762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82" name="Rectangle 188"/>
            <p:cNvSpPr>
              <a:spLocks noChangeArrowheads="1"/>
            </p:cNvSpPr>
            <p:nvPr/>
          </p:nvSpPr>
          <p:spPr bwMode="auto">
            <a:xfrm>
              <a:off x="906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83" name="Rectangle 189"/>
            <p:cNvSpPr>
              <a:spLocks noChangeArrowheads="1"/>
            </p:cNvSpPr>
            <p:nvPr/>
          </p:nvSpPr>
          <p:spPr bwMode="auto">
            <a:xfrm>
              <a:off x="1045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84" name="Rectangle 190"/>
            <p:cNvSpPr>
              <a:spLocks noChangeArrowheads="1"/>
            </p:cNvSpPr>
            <p:nvPr/>
          </p:nvSpPr>
          <p:spPr bwMode="auto">
            <a:xfrm>
              <a:off x="1189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85" name="Rectangle 191"/>
            <p:cNvSpPr>
              <a:spLocks noChangeArrowheads="1"/>
            </p:cNvSpPr>
            <p:nvPr/>
          </p:nvSpPr>
          <p:spPr bwMode="auto">
            <a:xfrm>
              <a:off x="1333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86" name="Rectangle 192"/>
            <p:cNvSpPr>
              <a:spLocks noChangeArrowheads="1"/>
            </p:cNvSpPr>
            <p:nvPr/>
          </p:nvSpPr>
          <p:spPr bwMode="auto">
            <a:xfrm>
              <a:off x="1477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87" name="Rectangle 193"/>
            <p:cNvSpPr>
              <a:spLocks noChangeArrowheads="1"/>
            </p:cNvSpPr>
            <p:nvPr/>
          </p:nvSpPr>
          <p:spPr bwMode="auto">
            <a:xfrm>
              <a:off x="1616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88" name="Rectangle 194"/>
            <p:cNvSpPr>
              <a:spLocks noChangeArrowheads="1"/>
            </p:cNvSpPr>
            <p:nvPr/>
          </p:nvSpPr>
          <p:spPr bwMode="auto">
            <a:xfrm>
              <a:off x="330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89" name="Rectangle 195"/>
            <p:cNvSpPr>
              <a:spLocks noChangeArrowheads="1"/>
            </p:cNvSpPr>
            <p:nvPr/>
          </p:nvSpPr>
          <p:spPr bwMode="auto">
            <a:xfrm>
              <a:off x="474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90" name="Rectangle 196"/>
            <p:cNvSpPr>
              <a:spLocks noChangeArrowheads="1"/>
            </p:cNvSpPr>
            <p:nvPr/>
          </p:nvSpPr>
          <p:spPr bwMode="auto">
            <a:xfrm>
              <a:off x="618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91" name="Rectangle 197"/>
            <p:cNvSpPr>
              <a:spLocks noChangeArrowheads="1"/>
            </p:cNvSpPr>
            <p:nvPr/>
          </p:nvSpPr>
          <p:spPr bwMode="auto">
            <a:xfrm>
              <a:off x="762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92" name="Rectangle 198"/>
            <p:cNvSpPr>
              <a:spLocks noChangeArrowheads="1"/>
            </p:cNvSpPr>
            <p:nvPr/>
          </p:nvSpPr>
          <p:spPr bwMode="auto">
            <a:xfrm>
              <a:off x="906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93" name="Rectangle 199"/>
            <p:cNvSpPr>
              <a:spLocks noChangeArrowheads="1"/>
            </p:cNvSpPr>
            <p:nvPr/>
          </p:nvSpPr>
          <p:spPr bwMode="auto">
            <a:xfrm>
              <a:off x="1045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94" name="Rectangle 200"/>
            <p:cNvSpPr>
              <a:spLocks noChangeArrowheads="1"/>
            </p:cNvSpPr>
            <p:nvPr/>
          </p:nvSpPr>
          <p:spPr bwMode="auto">
            <a:xfrm>
              <a:off x="1189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95" name="Rectangle 201"/>
            <p:cNvSpPr>
              <a:spLocks noChangeArrowheads="1"/>
            </p:cNvSpPr>
            <p:nvPr/>
          </p:nvSpPr>
          <p:spPr bwMode="auto">
            <a:xfrm>
              <a:off x="1333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96" name="Rectangle 202"/>
            <p:cNvSpPr>
              <a:spLocks noChangeArrowheads="1"/>
            </p:cNvSpPr>
            <p:nvPr/>
          </p:nvSpPr>
          <p:spPr bwMode="auto">
            <a:xfrm>
              <a:off x="1477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97" name="Rectangle 203"/>
            <p:cNvSpPr>
              <a:spLocks noChangeArrowheads="1"/>
            </p:cNvSpPr>
            <p:nvPr/>
          </p:nvSpPr>
          <p:spPr bwMode="auto">
            <a:xfrm>
              <a:off x="1616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98" name="Rectangle 204"/>
            <p:cNvSpPr>
              <a:spLocks noChangeArrowheads="1"/>
            </p:cNvSpPr>
            <p:nvPr/>
          </p:nvSpPr>
          <p:spPr bwMode="auto">
            <a:xfrm>
              <a:off x="330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699" name="Rectangle 205"/>
            <p:cNvSpPr>
              <a:spLocks noChangeArrowheads="1"/>
            </p:cNvSpPr>
            <p:nvPr/>
          </p:nvSpPr>
          <p:spPr bwMode="auto">
            <a:xfrm>
              <a:off x="474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00" name="Rectangle 206"/>
            <p:cNvSpPr>
              <a:spLocks noChangeArrowheads="1"/>
            </p:cNvSpPr>
            <p:nvPr/>
          </p:nvSpPr>
          <p:spPr bwMode="auto">
            <a:xfrm>
              <a:off x="618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01" name="Rectangle 207"/>
            <p:cNvSpPr>
              <a:spLocks noChangeArrowheads="1"/>
            </p:cNvSpPr>
            <p:nvPr/>
          </p:nvSpPr>
          <p:spPr bwMode="auto">
            <a:xfrm>
              <a:off x="762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02" name="Rectangle 208"/>
            <p:cNvSpPr>
              <a:spLocks noChangeArrowheads="1"/>
            </p:cNvSpPr>
            <p:nvPr/>
          </p:nvSpPr>
          <p:spPr bwMode="auto">
            <a:xfrm>
              <a:off x="906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03" name="Rectangle 209"/>
            <p:cNvSpPr>
              <a:spLocks noChangeArrowheads="1"/>
            </p:cNvSpPr>
            <p:nvPr/>
          </p:nvSpPr>
          <p:spPr bwMode="auto">
            <a:xfrm>
              <a:off x="1045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04" name="Rectangle 210"/>
            <p:cNvSpPr>
              <a:spLocks noChangeArrowheads="1"/>
            </p:cNvSpPr>
            <p:nvPr/>
          </p:nvSpPr>
          <p:spPr bwMode="auto">
            <a:xfrm>
              <a:off x="1189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05" name="Rectangle 211"/>
            <p:cNvSpPr>
              <a:spLocks noChangeArrowheads="1"/>
            </p:cNvSpPr>
            <p:nvPr/>
          </p:nvSpPr>
          <p:spPr bwMode="auto">
            <a:xfrm>
              <a:off x="1333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06" name="Rectangle 212"/>
            <p:cNvSpPr>
              <a:spLocks noChangeArrowheads="1"/>
            </p:cNvSpPr>
            <p:nvPr/>
          </p:nvSpPr>
          <p:spPr bwMode="auto">
            <a:xfrm>
              <a:off x="1477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07" name="Rectangle 213"/>
            <p:cNvSpPr>
              <a:spLocks noChangeArrowheads="1"/>
            </p:cNvSpPr>
            <p:nvPr/>
          </p:nvSpPr>
          <p:spPr bwMode="auto">
            <a:xfrm>
              <a:off x="1616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08" name="Rectangle 214"/>
            <p:cNvSpPr>
              <a:spLocks noChangeArrowheads="1"/>
            </p:cNvSpPr>
            <p:nvPr/>
          </p:nvSpPr>
          <p:spPr bwMode="auto">
            <a:xfrm>
              <a:off x="330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09" name="Rectangle 215"/>
            <p:cNvSpPr>
              <a:spLocks noChangeArrowheads="1"/>
            </p:cNvSpPr>
            <p:nvPr/>
          </p:nvSpPr>
          <p:spPr bwMode="auto">
            <a:xfrm>
              <a:off x="474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10" name="Rectangle 216"/>
            <p:cNvSpPr>
              <a:spLocks noChangeArrowheads="1"/>
            </p:cNvSpPr>
            <p:nvPr/>
          </p:nvSpPr>
          <p:spPr bwMode="auto">
            <a:xfrm>
              <a:off x="618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11" name="Rectangle 217"/>
            <p:cNvSpPr>
              <a:spLocks noChangeArrowheads="1"/>
            </p:cNvSpPr>
            <p:nvPr/>
          </p:nvSpPr>
          <p:spPr bwMode="auto">
            <a:xfrm>
              <a:off x="762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12" name="Rectangle 218"/>
            <p:cNvSpPr>
              <a:spLocks noChangeArrowheads="1"/>
            </p:cNvSpPr>
            <p:nvPr/>
          </p:nvSpPr>
          <p:spPr bwMode="auto">
            <a:xfrm>
              <a:off x="906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13" name="Rectangle 219"/>
            <p:cNvSpPr>
              <a:spLocks noChangeArrowheads="1"/>
            </p:cNvSpPr>
            <p:nvPr/>
          </p:nvSpPr>
          <p:spPr bwMode="auto">
            <a:xfrm>
              <a:off x="1045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14" name="Rectangle 220"/>
            <p:cNvSpPr>
              <a:spLocks noChangeArrowheads="1"/>
            </p:cNvSpPr>
            <p:nvPr/>
          </p:nvSpPr>
          <p:spPr bwMode="auto">
            <a:xfrm>
              <a:off x="1189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15" name="Rectangle 221"/>
            <p:cNvSpPr>
              <a:spLocks noChangeArrowheads="1"/>
            </p:cNvSpPr>
            <p:nvPr/>
          </p:nvSpPr>
          <p:spPr bwMode="auto">
            <a:xfrm>
              <a:off x="1333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16" name="Rectangle 222"/>
            <p:cNvSpPr>
              <a:spLocks noChangeArrowheads="1"/>
            </p:cNvSpPr>
            <p:nvPr/>
          </p:nvSpPr>
          <p:spPr bwMode="auto">
            <a:xfrm>
              <a:off x="1477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17" name="Rectangle 223"/>
            <p:cNvSpPr>
              <a:spLocks noChangeArrowheads="1"/>
            </p:cNvSpPr>
            <p:nvPr/>
          </p:nvSpPr>
          <p:spPr bwMode="auto">
            <a:xfrm>
              <a:off x="1616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18" name="Rectangle 224"/>
            <p:cNvSpPr>
              <a:spLocks noChangeArrowheads="1"/>
            </p:cNvSpPr>
            <p:nvPr/>
          </p:nvSpPr>
          <p:spPr bwMode="auto">
            <a:xfrm>
              <a:off x="1755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19" name="Rectangle 225"/>
            <p:cNvSpPr>
              <a:spLocks noChangeArrowheads="1"/>
            </p:cNvSpPr>
            <p:nvPr/>
          </p:nvSpPr>
          <p:spPr bwMode="auto">
            <a:xfrm>
              <a:off x="1899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20" name="Rectangle 226"/>
            <p:cNvSpPr>
              <a:spLocks noChangeArrowheads="1"/>
            </p:cNvSpPr>
            <p:nvPr/>
          </p:nvSpPr>
          <p:spPr bwMode="auto">
            <a:xfrm>
              <a:off x="2043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21" name="Rectangle 227"/>
            <p:cNvSpPr>
              <a:spLocks noChangeArrowheads="1"/>
            </p:cNvSpPr>
            <p:nvPr/>
          </p:nvSpPr>
          <p:spPr bwMode="auto">
            <a:xfrm>
              <a:off x="2187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22" name="Rectangle 228"/>
            <p:cNvSpPr>
              <a:spLocks noChangeArrowheads="1"/>
            </p:cNvSpPr>
            <p:nvPr/>
          </p:nvSpPr>
          <p:spPr bwMode="auto">
            <a:xfrm>
              <a:off x="2331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23" name="Rectangle 229"/>
            <p:cNvSpPr>
              <a:spLocks noChangeArrowheads="1"/>
            </p:cNvSpPr>
            <p:nvPr/>
          </p:nvSpPr>
          <p:spPr bwMode="auto">
            <a:xfrm>
              <a:off x="2470" y="2446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24" name="Rectangle 230"/>
            <p:cNvSpPr>
              <a:spLocks noChangeArrowheads="1"/>
            </p:cNvSpPr>
            <p:nvPr/>
          </p:nvSpPr>
          <p:spPr bwMode="auto">
            <a:xfrm>
              <a:off x="1755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25" name="Rectangle 231"/>
            <p:cNvSpPr>
              <a:spLocks noChangeArrowheads="1"/>
            </p:cNvSpPr>
            <p:nvPr/>
          </p:nvSpPr>
          <p:spPr bwMode="auto">
            <a:xfrm>
              <a:off x="1899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26" name="Rectangle 232"/>
            <p:cNvSpPr>
              <a:spLocks noChangeArrowheads="1"/>
            </p:cNvSpPr>
            <p:nvPr/>
          </p:nvSpPr>
          <p:spPr bwMode="auto">
            <a:xfrm>
              <a:off x="2043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27" name="Rectangle 233"/>
            <p:cNvSpPr>
              <a:spLocks noChangeArrowheads="1"/>
            </p:cNvSpPr>
            <p:nvPr/>
          </p:nvSpPr>
          <p:spPr bwMode="auto">
            <a:xfrm>
              <a:off x="2187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28" name="Rectangle 234"/>
            <p:cNvSpPr>
              <a:spLocks noChangeArrowheads="1"/>
            </p:cNvSpPr>
            <p:nvPr/>
          </p:nvSpPr>
          <p:spPr bwMode="auto">
            <a:xfrm>
              <a:off x="2331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29" name="Rectangle 235"/>
            <p:cNvSpPr>
              <a:spLocks noChangeArrowheads="1"/>
            </p:cNvSpPr>
            <p:nvPr/>
          </p:nvSpPr>
          <p:spPr bwMode="auto">
            <a:xfrm>
              <a:off x="2470" y="2588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30" name="Rectangle 236"/>
            <p:cNvSpPr>
              <a:spLocks noChangeArrowheads="1"/>
            </p:cNvSpPr>
            <p:nvPr/>
          </p:nvSpPr>
          <p:spPr bwMode="auto">
            <a:xfrm>
              <a:off x="1755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31" name="Rectangle 237"/>
            <p:cNvSpPr>
              <a:spLocks noChangeArrowheads="1"/>
            </p:cNvSpPr>
            <p:nvPr/>
          </p:nvSpPr>
          <p:spPr bwMode="auto">
            <a:xfrm>
              <a:off x="1899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32" name="Rectangle 238"/>
            <p:cNvSpPr>
              <a:spLocks noChangeArrowheads="1"/>
            </p:cNvSpPr>
            <p:nvPr/>
          </p:nvSpPr>
          <p:spPr bwMode="auto">
            <a:xfrm>
              <a:off x="2043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33" name="Rectangle 239"/>
            <p:cNvSpPr>
              <a:spLocks noChangeArrowheads="1"/>
            </p:cNvSpPr>
            <p:nvPr/>
          </p:nvSpPr>
          <p:spPr bwMode="auto">
            <a:xfrm>
              <a:off x="2187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34" name="Rectangle 240"/>
            <p:cNvSpPr>
              <a:spLocks noChangeArrowheads="1"/>
            </p:cNvSpPr>
            <p:nvPr/>
          </p:nvSpPr>
          <p:spPr bwMode="auto">
            <a:xfrm>
              <a:off x="2331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35" name="Rectangle 241"/>
            <p:cNvSpPr>
              <a:spLocks noChangeArrowheads="1"/>
            </p:cNvSpPr>
            <p:nvPr/>
          </p:nvSpPr>
          <p:spPr bwMode="auto">
            <a:xfrm>
              <a:off x="2470" y="2732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36" name="Rectangle 242"/>
            <p:cNvSpPr>
              <a:spLocks noChangeArrowheads="1"/>
            </p:cNvSpPr>
            <p:nvPr/>
          </p:nvSpPr>
          <p:spPr bwMode="auto">
            <a:xfrm>
              <a:off x="1755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37" name="Rectangle 243"/>
            <p:cNvSpPr>
              <a:spLocks noChangeArrowheads="1"/>
            </p:cNvSpPr>
            <p:nvPr/>
          </p:nvSpPr>
          <p:spPr bwMode="auto">
            <a:xfrm>
              <a:off x="1899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38" name="Rectangle 244"/>
            <p:cNvSpPr>
              <a:spLocks noChangeArrowheads="1"/>
            </p:cNvSpPr>
            <p:nvPr/>
          </p:nvSpPr>
          <p:spPr bwMode="auto">
            <a:xfrm>
              <a:off x="2043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39" name="Rectangle 245"/>
            <p:cNvSpPr>
              <a:spLocks noChangeArrowheads="1"/>
            </p:cNvSpPr>
            <p:nvPr/>
          </p:nvSpPr>
          <p:spPr bwMode="auto">
            <a:xfrm>
              <a:off x="2187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40" name="Rectangle 246"/>
            <p:cNvSpPr>
              <a:spLocks noChangeArrowheads="1"/>
            </p:cNvSpPr>
            <p:nvPr/>
          </p:nvSpPr>
          <p:spPr bwMode="auto">
            <a:xfrm>
              <a:off x="2331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41" name="Rectangle 247"/>
            <p:cNvSpPr>
              <a:spLocks noChangeArrowheads="1"/>
            </p:cNvSpPr>
            <p:nvPr/>
          </p:nvSpPr>
          <p:spPr bwMode="auto">
            <a:xfrm>
              <a:off x="2470" y="2874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42" name="Rectangle 248"/>
            <p:cNvSpPr>
              <a:spLocks noChangeArrowheads="1"/>
            </p:cNvSpPr>
            <p:nvPr/>
          </p:nvSpPr>
          <p:spPr bwMode="auto">
            <a:xfrm>
              <a:off x="1755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43" name="Rectangle 249"/>
            <p:cNvSpPr>
              <a:spLocks noChangeArrowheads="1"/>
            </p:cNvSpPr>
            <p:nvPr/>
          </p:nvSpPr>
          <p:spPr bwMode="auto">
            <a:xfrm>
              <a:off x="1899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44" name="Rectangle 250"/>
            <p:cNvSpPr>
              <a:spLocks noChangeArrowheads="1"/>
            </p:cNvSpPr>
            <p:nvPr/>
          </p:nvSpPr>
          <p:spPr bwMode="auto">
            <a:xfrm>
              <a:off x="2043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45" name="Rectangle 251"/>
            <p:cNvSpPr>
              <a:spLocks noChangeArrowheads="1"/>
            </p:cNvSpPr>
            <p:nvPr/>
          </p:nvSpPr>
          <p:spPr bwMode="auto">
            <a:xfrm>
              <a:off x="2187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46" name="Rectangle 252"/>
            <p:cNvSpPr>
              <a:spLocks noChangeArrowheads="1"/>
            </p:cNvSpPr>
            <p:nvPr/>
          </p:nvSpPr>
          <p:spPr bwMode="auto">
            <a:xfrm>
              <a:off x="2331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  <p:sp>
          <p:nvSpPr>
            <p:cNvPr id="19747" name="Rectangle 253"/>
            <p:cNvSpPr>
              <a:spLocks noChangeArrowheads="1"/>
            </p:cNvSpPr>
            <p:nvPr/>
          </p:nvSpPr>
          <p:spPr bwMode="auto">
            <a:xfrm>
              <a:off x="2470" y="3011"/>
              <a:ext cx="144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/>
            </a:p>
          </p:txBody>
        </p:sp>
      </p:grpSp>
      <p:sp>
        <p:nvSpPr>
          <p:cNvPr id="19461" name="Line 254"/>
          <p:cNvSpPr>
            <a:spLocks noChangeShapeType="1"/>
          </p:cNvSpPr>
          <p:nvPr/>
        </p:nvSpPr>
        <p:spPr bwMode="auto">
          <a:xfrm>
            <a:off x="523875" y="1624013"/>
            <a:ext cx="38385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9462" name="Line 255"/>
          <p:cNvSpPr>
            <a:spLocks noChangeShapeType="1"/>
          </p:cNvSpPr>
          <p:nvPr/>
        </p:nvSpPr>
        <p:spPr bwMode="auto">
          <a:xfrm rot="5400000">
            <a:off x="-1256506" y="3404394"/>
            <a:ext cx="3560762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9463" name="Text Box 256"/>
          <p:cNvSpPr txBox="1">
            <a:spLocks noChangeArrowheads="1"/>
          </p:cNvSpPr>
          <p:nvPr/>
        </p:nvSpPr>
        <p:spPr bwMode="auto">
          <a:xfrm>
            <a:off x="0" y="1255713"/>
            <a:ext cx="8064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E" b="1" i="1">
                <a:solidFill>
                  <a:srgbClr val="0033CC"/>
                </a:solidFill>
                <a:latin typeface="Times New Roman" pitchFamily="18" charset="0"/>
              </a:rPr>
              <a:t>Origin</a:t>
            </a:r>
            <a:endParaRPr lang="en-US" b="1" i="1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9464" name="Text Box 257"/>
          <p:cNvSpPr txBox="1">
            <a:spLocks noChangeArrowheads="1"/>
          </p:cNvSpPr>
          <p:nvPr/>
        </p:nvSpPr>
        <p:spPr bwMode="auto">
          <a:xfrm>
            <a:off x="4140200" y="1257300"/>
            <a:ext cx="2984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E" b="1" i="1" dirty="0">
                <a:solidFill>
                  <a:srgbClr val="0033CC"/>
                </a:solidFill>
                <a:latin typeface="Times New Roman" pitchFamily="18" charset="0"/>
              </a:rPr>
              <a:t>x</a:t>
            </a:r>
            <a:endParaRPr lang="en-US" b="1" i="1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9465" name="Text Box 258"/>
          <p:cNvSpPr txBox="1">
            <a:spLocks noChangeArrowheads="1"/>
          </p:cNvSpPr>
          <p:nvPr/>
        </p:nvSpPr>
        <p:spPr bwMode="auto">
          <a:xfrm>
            <a:off x="239713" y="4970463"/>
            <a:ext cx="2857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E" b="1" i="1">
                <a:solidFill>
                  <a:srgbClr val="0033CC"/>
                </a:solidFill>
                <a:latin typeface="Times New Roman" pitchFamily="18" charset="0"/>
              </a:rPr>
              <a:t>y</a:t>
            </a:r>
            <a:endParaRPr lang="en-US" b="1" i="1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9466" name="Text Box 259"/>
          <p:cNvSpPr txBox="1">
            <a:spLocks noChangeArrowheads="1"/>
          </p:cNvSpPr>
          <p:nvPr/>
        </p:nvSpPr>
        <p:spPr bwMode="auto">
          <a:xfrm>
            <a:off x="2797175" y="4997450"/>
            <a:ext cx="1454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E" b="1" i="1">
                <a:solidFill>
                  <a:srgbClr val="0033CC"/>
                </a:solidFill>
                <a:latin typeface="Times New Roman" pitchFamily="18" charset="0"/>
              </a:rPr>
              <a:t>Image f (x, y)</a:t>
            </a:r>
            <a:endParaRPr lang="en-US" b="1" i="1">
              <a:solidFill>
                <a:srgbClr val="0033CC"/>
              </a:solidFill>
              <a:latin typeface="Times New Roman" pitchFamily="18" charset="0"/>
            </a:endParaRPr>
          </a:p>
        </p:txBody>
      </p:sp>
      <p:cxnSp>
        <p:nvCxnSpPr>
          <p:cNvPr id="266500" name="AutoShape 260"/>
          <p:cNvCxnSpPr>
            <a:cxnSpLocks noChangeShapeType="1"/>
            <a:stCxn id="266504" idx="6"/>
            <a:endCxn id="19485" idx="1"/>
          </p:cNvCxnSpPr>
          <p:nvPr/>
        </p:nvCxnSpPr>
        <p:spPr bwMode="auto">
          <a:xfrm flipV="1">
            <a:off x="3698875" y="2203450"/>
            <a:ext cx="1254125" cy="1344613"/>
          </a:xfrm>
          <a:prstGeom prst="curvedConnector3">
            <a:avLst>
              <a:gd name="adj1" fmla="val 49495"/>
            </a:avLst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</p:spPr>
      </p:cxnSp>
      <p:sp>
        <p:nvSpPr>
          <p:cNvPr id="266501" name="Text Box 261"/>
          <p:cNvSpPr txBox="1">
            <a:spLocks noChangeArrowheads="1"/>
          </p:cNvSpPr>
          <p:nvPr/>
        </p:nvSpPr>
        <p:spPr bwMode="auto">
          <a:xfrm>
            <a:off x="4694238" y="3754438"/>
            <a:ext cx="4076700" cy="16795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1436688" algn="l"/>
              </a:tabLst>
            </a:pPr>
            <a:r>
              <a:rPr lang="en-IE" sz="2600" i="1">
                <a:latin typeface="Times New Roman" pitchFamily="18" charset="0"/>
              </a:rPr>
              <a:t>e</a:t>
            </a:r>
            <a:r>
              <a:rPr lang="en-IE" sz="2600" i="1" baseline="-25000">
                <a:latin typeface="Times New Roman" pitchFamily="18" charset="0"/>
              </a:rPr>
              <a:t>processed</a:t>
            </a:r>
            <a:r>
              <a:rPr lang="en-IE" sz="2600" i="1">
                <a:latin typeface="Times New Roman" pitchFamily="18" charset="0"/>
              </a:rPr>
              <a:t> = 	</a:t>
            </a:r>
            <a:r>
              <a:rPr lang="en-IE" sz="2400" i="1">
                <a:latin typeface="Times New Roman" pitchFamily="18" charset="0"/>
              </a:rPr>
              <a:t>v</a:t>
            </a:r>
            <a:r>
              <a:rPr lang="en-IE" sz="2600" i="1">
                <a:latin typeface="Times New Roman" pitchFamily="18" charset="0"/>
              </a:rPr>
              <a:t>*e + </a:t>
            </a:r>
            <a:br>
              <a:rPr lang="en-IE" sz="2600" i="1">
                <a:latin typeface="Times New Roman" pitchFamily="18" charset="0"/>
              </a:rPr>
            </a:br>
            <a:r>
              <a:rPr lang="en-IE" sz="2600" i="1">
                <a:latin typeface="Times New Roman" pitchFamily="18" charset="0"/>
              </a:rPr>
              <a:t>	</a:t>
            </a:r>
            <a:r>
              <a:rPr lang="en-IE" sz="2400" i="1">
                <a:latin typeface="Times New Roman" pitchFamily="18" charset="0"/>
              </a:rPr>
              <a:t>r</a:t>
            </a:r>
            <a:r>
              <a:rPr lang="en-IE" sz="2600" i="1">
                <a:latin typeface="Times New Roman" pitchFamily="18" charset="0"/>
              </a:rPr>
              <a:t>*a + </a:t>
            </a:r>
            <a:r>
              <a:rPr lang="en-IE" sz="2400" i="1">
                <a:latin typeface="Times New Roman" pitchFamily="18" charset="0"/>
              </a:rPr>
              <a:t>s</a:t>
            </a:r>
            <a:r>
              <a:rPr lang="en-IE" sz="2600" i="1">
                <a:latin typeface="Times New Roman" pitchFamily="18" charset="0"/>
              </a:rPr>
              <a:t>*b + </a:t>
            </a:r>
            <a:r>
              <a:rPr lang="en-IE" sz="2400" i="1">
                <a:latin typeface="Times New Roman" pitchFamily="18" charset="0"/>
              </a:rPr>
              <a:t>t</a:t>
            </a:r>
            <a:r>
              <a:rPr lang="en-IE" sz="2600" i="1">
                <a:latin typeface="Times New Roman" pitchFamily="18" charset="0"/>
              </a:rPr>
              <a:t>*c + </a:t>
            </a:r>
            <a:br>
              <a:rPr lang="en-IE" sz="2600" i="1">
                <a:latin typeface="Times New Roman" pitchFamily="18" charset="0"/>
              </a:rPr>
            </a:br>
            <a:r>
              <a:rPr lang="en-IE" sz="2600" i="1">
                <a:latin typeface="Times New Roman" pitchFamily="18" charset="0"/>
              </a:rPr>
              <a:t>	</a:t>
            </a:r>
            <a:r>
              <a:rPr lang="en-IE" sz="2400" i="1">
                <a:latin typeface="Times New Roman" pitchFamily="18" charset="0"/>
              </a:rPr>
              <a:t>u</a:t>
            </a:r>
            <a:r>
              <a:rPr lang="en-IE" sz="2600" i="1">
                <a:latin typeface="Times New Roman" pitchFamily="18" charset="0"/>
              </a:rPr>
              <a:t>*d + </a:t>
            </a:r>
            <a:r>
              <a:rPr lang="en-IE" sz="2400" i="1">
                <a:latin typeface="Times New Roman" pitchFamily="18" charset="0"/>
              </a:rPr>
              <a:t>w</a:t>
            </a:r>
            <a:r>
              <a:rPr lang="en-IE" sz="2600" i="1">
                <a:latin typeface="Times New Roman" pitchFamily="18" charset="0"/>
              </a:rPr>
              <a:t>*f + </a:t>
            </a:r>
            <a:br>
              <a:rPr lang="en-IE" sz="2600" i="1">
                <a:latin typeface="Times New Roman" pitchFamily="18" charset="0"/>
              </a:rPr>
            </a:br>
            <a:r>
              <a:rPr lang="en-IE" sz="2600" i="1">
                <a:latin typeface="Times New Roman" pitchFamily="18" charset="0"/>
              </a:rPr>
              <a:t>	</a:t>
            </a:r>
            <a:r>
              <a:rPr lang="en-IE" sz="2400" i="1">
                <a:latin typeface="Times New Roman" pitchFamily="18" charset="0"/>
              </a:rPr>
              <a:t>x</a:t>
            </a:r>
            <a:r>
              <a:rPr lang="en-IE" sz="2600" i="1">
                <a:latin typeface="Times New Roman" pitchFamily="18" charset="0"/>
              </a:rPr>
              <a:t>*g + </a:t>
            </a:r>
            <a:r>
              <a:rPr lang="en-IE" sz="2400" i="1">
                <a:latin typeface="Times New Roman" pitchFamily="18" charset="0"/>
              </a:rPr>
              <a:t>y</a:t>
            </a:r>
            <a:r>
              <a:rPr lang="en-IE" sz="2600" i="1">
                <a:latin typeface="Times New Roman" pitchFamily="18" charset="0"/>
              </a:rPr>
              <a:t>*h + </a:t>
            </a:r>
            <a:r>
              <a:rPr lang="en-IE" sz="2400" i="1">
                <a:latin typeface="Times New Roman" pitchFamily="18" charset="0"/>
              </a:rPr>
              <a:t>z</a:t>
            </a:r>
            <a:r>
              <a:rPr lang="en-IE" sz="2600" i="1">
                <a:latin typeface="Times New Roman" pitchFamily="18" charset="0"/>
              </a:rPr>
              <a:t>*i</a:t>
            </a:r>
          </a:p>
        </p:txBody>
      </p:sp>
      <p:sp>
        <p:nvSpPr>
          <p:cNvPr id="266502" name="Text Box 262"/>
          <p:cNvSpPr txBox="1">
            <a:spLocks noChangeArrowheads="1"/>
          </p:cNvSpPr>
          <p:nvPr/>
        </p:nvSpPr>
        <p:spPr bwMode="auto">
          <a:xfrm>
            <a:off x="7013575" y="3038475"/>
            <a:ext cx="1820863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IE" b="1"/>
              <a:t>Filter</a:t>
            </a:r>
            <a:endParaRPr lang="en-US" b="1"/>
          </a:p>
        </p:txBody>
      </p:sp>
      <p:sp>
        <p:nvSpPr>
          <p:cNvPr id="266503" name="Text Box 263"/>
          <p:cNvSpPr txBox="1">
            <a:spLocks noChangeArrowheads="1"/>
          </p:cNvSpPr>
          <p:nvPr/>
        </p:nvSpPr>
        <p:spPr bwMode="auto">
          <a:xfrm>
            <a:off x="1412875" y="3309938"/>
            <a:ext cx="1311275" cy="48895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lIns="18000" tIns="0" rIns="18000" bIns="0">
            <a:spAutoFit/>
          </a:bodyPr>
          <a:lstStyle/>
          <a:p>
            <a:pPr algn="r"/>
            <a:r>
              <a:rPr lang="en-IE" sz="1600" i="1" dirty="0">
                <a:latin typeface="Times New Roman" pitchFamily="18" charset="0"/>
              </a:rPr>
              <a:t>Simple 3*3</a:t>
            </a:r>
            <a:br>
              <a:rPr lang="en-IE" sz="1600" i="1" dirty="0">
                <a:latin typeface="Times New Roman" pitchFamily="18" charset="0"/>
              </a:rPr>
            </a:br>
            <a:r>
              <a:rPr lang="en-IE" sz="1600" i="1" dirty="0">
                <a:latin typeface="Times New Roman" pitchFamily="18" charset="0"/>
              </a:rPr>
              <a:t>Neighbourhood</a:t>
            </a:r>
            <a:endParaRPr lang="en-US" sz="1600" i="1" dirty="0">
              <a:latin typeface="Times New Roman" pitchFamily="18" charset="0"/>
            </a:endParaRPr>
          </a:p>
        </p:txBody>
      </p:sp>
      <p:sp>
        <p:nvSpPr>
          <p:cNvPr id="266504" name="Oval 264"/>
          <p:cNvSpPr>
            <a:spLocks noChangeArrowheads="1"/>
          </p:cNvSpPr>
          <p:nvPr/>
        </p:nvSpPr>
        <p:spPr bwMode="auto">
          <a:xfrm>
            <a:off x="2597150" y="3009900"/>
            <a:ext cx="1076325" cy="1076325"/>
          </a:xfrm>
          <a:prstGeom prst="ellips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66505" name="Rectangle 265"/>
          <p:cNvSpPr>
            <a:spLocks noChangeArrowheads="1"/>
          </p:cNvSpPr>
          <p:nvPr/>
        </p:nvSpPr>
        <p:spPr bwMode="auto">
          <a:xfrm>
            <a:off x="3014663" y="3432175"/>
            <a:ext cx="228600" cy="228600"/>
          </a:xfrm>
          <a:prstGeom prst="rect">
            <a:avLst/>
          </a:prstGeom>
          <a:solidFill>
            <a:srgbClr val="C0C0C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IE" sz="1600" i="1">
                <a:latin typeface="Times New Roman" pitchFamily="18" charset="0"/>
              </a:rPr>
              <a:t>e</a:t>
            </a:r>
            <a:endParaRPr lang="en-US" sz="1600" i="1">
              <a:latin typeface="Times New Roman" pitchFamily="18" charset="0"/>
            </a:endParaRPr>
          </a:p>
        </p:txBody>
      </p:sp>
      <p:grpSp>
        <p:nvGrpSpPr>
          <p:cNvPr id="4" name="Group 266"/>
          <p:cNvGrpSpPr>
            <a:grpSpLocks/>
          </p:cNvGrpSpPr>
          <p:nvPr/>
        </p:nvGrpSpPr>
        <p:grpSpPr bwMode="auto">
          <a:xfrm>
            <a:off x="2790825" y="3206750"/>
            <a:ext cx="677863" cy="685800"/>
            <a:chOff x="1752" y="2422"/>
            <a:chExt cx="427" cy="432"/>
          </a:xfrm>
        </p:grpSpPr>
        <p:sp>
          <p:nvSpPr>
            <p:cNvPr id="19500" name="Rectangle 267"/>
            <p:cNvSpPr>
              <a:spLocks noChangeArrowheads="1"/>
            </p:cNvSpPr>
            <p:nvPr/>
          </p:nvSpPr>
          <p:spPr bwMode="auto">
            <a:xfrm>
              <a:off x="1752" y="242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900"/>
            </a:p>
          </p:txBody>
        </p:sp>
        <p:sp>
          <p:nvSpPr>
            <p:cNvPr id="19501" name="Rectangle 268"/>
            <p:cNvSpPr>
              <a:spLocks noChangeArrowheads="1"/>
            </p:cNvSpPr>
            <p:nvPr/>
          </p:nvSpPr>
          <p:spPr bwMode="auto">
            <a:xfrm>
              <a:off x="1752" y="256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900"/>
            </a:p>
          </p:txBody>
        </p:sp>
        <p:sp>
          <p:nvSpPr>
            <p:cNvPr id="19502" name="Rectangle 269"/>
            <p:cNvSpPr>
              <a:spLocks noChangeArrowheads="1"/>
            </p:cNvSpPr>
            <p:nvPr/>
          </p:nvSpPr>
          <p:spPr bwMode="auto">
            <a:xfrm>
              <a:off x="1752" y="2710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900"/>
            </a:p>
          </p:txBody>
        </p:sp>
        <p:sp>
          <p:nvSpPr>
            <p:cNvPr id="19503" name="Rectangle 270"/>
            <p:cNvSpPr>
              <a:spLocks noChangeArrowheads="1"/>
            </p:cNvSpPr>
            <p:nvPr/>
          </p:nvSpPr>
          <p:spPr bwMode="auto">
            <a:xfrm>
              <a:off x="1891" y="242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900"/>
            </a:p>
          </p:txBody>
        </p:sp>
        <p:sp>
          <p:nvSpPr>
            <p:cNvPr id="19504" name="Rectangle 271"/>
            <p:cNvSpPr>
              <a:spLocks noChangeArrowheads="1"/>
            </p:cNvSpPr>
            <p:nvPr/>
          </p:nvSpPr>
          <p:spPr bwMode="auto">
            <a:xfrm>
              <a:off x="2035" y="242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900"/>
            </a:p>
          </p:txBody>
        </p:sp>
        <p:sp>
          <p:nvSpPr>
            <p:cNvPr id="19505" name="Rectangle 272"/>
            <p:cNvSpPr>
              <a:spLocks noChangeArrowheads="1"/>
            </p:cNvSpPr>
            <p:nvPr/>
          </p:nvSpPr>
          <p:spPr bwMode="auto">
            <a:xfrm>
              <a:off x="2035" y="256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900"/>
            </a:p>
          </p:txBody>
        </p:sp>
        <p:sp>
          <p:nvSpPr>
            <p:cNvPr id="19506" name="Rectangle 273"/>
            <p:cNvSpPr>
              <a:spLocks noChangeArrowheads="1"/>
            </p:cNvSpPr>
            <p:nvPr/>
          </p:nvSpPr>
          <p:spPr bwMode="auto">
            <a:xfrm>
              <a:off x="1891" y="2710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900"/>
            </a:p>
          </p:txBody>
        </p:sp>
        <p:sp>
          <p:nvSpPr>
            <p:cNvPr id="19507" name="Rectangle 274"/>
            <p:cNvSpPr>
              <a:spLocks noChangeArrowheads="1"/>
            </p:cNvSpPr>
            <p:nvPr/>
          </p:nvSpPr>
          <p:spPr bwMode="auto">
            <a:xfrm>
              <a:off x="2035" y="2710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900"/>
            </a:p>
          </p:txBody>
        </p:sp>
      </p:grpSp>
      <p:grpSp>
        <p:nvGrpSpPr>
          <p:cNvPr id="5" name="Group 275"/>
          <p:cNvGrpSpPr>
            <a:grpSpLocks/>
          </p:cNvGrpSpPr>
          <p:nvPr/>
        </p:nvGrpSpPr>
        <p:grpSpPr bwMode="auto">
          <a:xfrm>
            <a:off x="2784475" y="3203575"/>
            <a:ext cx="685800" cy="682625"/>
            <a:chOff x="3168" y="2244"/>
            <a:chExt cx="432" cy="430"/>
          </a:xfrm>
        </p:grpSpPr>
        <p:sp>
          <p:nvSpPr>
            <p:cNvPr id="19491" name="Rectangle 276"/>
            <p:cNvSpPr>
              <a:spLocks noChangeArrowheads="1"/>
            </p:cNvSpPr>
            <p:nvPr/>
          </p:nvSpPr>
          <p:spPr bwMode="auto">
            <a:xfrm>
              <a:off x="3168" y="2244"/>
              <a:ext cx="144" cy="144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1000" baseline="-25000"/>
            </a:p>
          </p:txBody>
        </p:sp>
        <p:sp>
          <p:nvSpPr>
            <p:cNvPr id="19492" name="Rectangle 277"/>
            <p:cNvSpPr>
              <a:spLocks noChangeArrowheads="1"/>
            </p:cNvSpPr>
            <p:nvPr/>
          </p:nvSpPr>
          <p:spPr bwMode="auto">
            <a:xfrm>
              <a:off x="3312" y="2244"/>
              <a:ext cx="144" cy="144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1000" baseline="-25000"/>
            </a:p>
          </p:txBody>
        </p:sp>
        <p:sp>
          <p:nvSpPr>
            <p:cNvPr id="19493" name="Rectangle 278"/>
            <p:cNvSpPr>
              <a:spLocks noChangeArrowheads="1"/>
            </p:cNvSpPr>
            <p:nvPr/>
          </p:nvSpPr>
          <p:spPr bwMode="auto">
            <a:xfrm>
              <a:off x="3456" y="2244"/>
              <a:ext cx="144" cy="144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1000" baseline="-25000"/>
            </a:p>
          </p:txBody>
        </p:sp>
        <p:sp>
          <p:nvSpPr>
            <p:cNvPr id="19494" name="Rectangle 279"/>
            <p:cNvSpPr>
              <a:spLocks noChangeArrowheads="1"/>
            </p:cNvSpPr>
            <p:nvPr/>
          </p:nvSpPr>
          <p:spPr bwMode="auto">
            <a:xfrm>
              <a:off x="3168" y="2386"/>
              <a:ext cx="144" cy="144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1000" baseline="-25000"/>
            </a:p>
          </p:txBody>
        </p:sp>
        <p:sp>
          <p:nvSpPr>
            <p:cNvPr id="19495" name="Rectangle 280"/>
            <p:cNvSpPr>
              <a:spLocks noChangeArrowheads="1"/>
            </p:cNvSpPr>
            <p:nvPr/>
          </p:nvSpPr>
          <p:spPr bwMode="auto">
            <a:xfrm>
              <a:off x="3312" y="2386"/>
              <a:ext cx="144" cy="144"/>
            </a:xfrm>
            <a:prstGeom prst="rect">
              <a:avLst/>
            </a:prstGeom>
            <a:solidFill>
              <a:srgbClr val="000080">
                <a:alpha val="21960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1000" baseline="-25000">
                <a:solidFill>
                  <a:schemeClr val="bg1"/>
                </a:solidFill>
              </a:endParaRPr>
            </a:p>
          </p:txBody>
        </p:sp>
        <p:sp>
          <p:nvSpPr>
            <p:cNvPr id="19496" name="Rectangle 281"/>
            <p:cNvSpPr>
              <a:spLocks noChangeArrowheads="1"/>
            </p:cNvSpPr>
            <p:nvPr/>
          </p:nvSpPr>
          <p:spPr bwMode="auto">
            <a:xfrm>
              <a:off x="3456" y="2386"/>
              <a:ext cx="144" cy="144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1000" baseline="-25000"/>
            </a:p>
          </p:txBody>
        </p:sp>
        <p:sp>
          <p:nvSpPr>
            <p:cNvPr id="19497" name="Rectangle 282"/>
            <p:cNvSpPr>
              <a:spLocks noChangeArrowheads="1"/>
            </p:cNvSpPr>
            <p:nvPr/>
          </p:nvSpPr>
          <p:spPr bwMode="auto">
            <a:xfrm>
              <a:off x="3168" y="2530"/>
              <a:ext cx="144" cy="144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1000" baseline="-25000"/>
            </a:p>
          </p:txBody>
        </p:sp>
        <p:sp>
          <p:nvSpPr>
            <p:cNvPr id="19498" name="Rectangle 283"/>
            <p:cNvSpPr>
              <a:spLocks noChangeArrowheads="1"/>
            </p:cNvSpPr>
            <p:nvPr/>
          </p:nvSpPr>
          <p:spPr bwMode="auto">
            <a:xfrm>
              <a:off x="3312" y="2530"/>
              <a:ext cx="144" cy="144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1000" baseline="-25000"/>
            </a:p>
          </p:txBody>
        </p:sp>
        <p:sp>
          <p:nvSpPr>
            <p:cNvPr id="19499" name="Rectangle 284"/>
            <p:cNvSpPr>
              <a:spLocks noChangeArrowheads="1"/>
            </p:cNvSpPr>
            <p:nvPr/>
          </p:nvSpPr>
          <p:spPr bwMode="auto">
            <a:xfrm>
              <a:off x="3456" y="2530"/>
              <a:ext cx="144" cy="144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1000" baseline="-25000"/>
            </a:p>
          </p:txBody>
        </p:sp>
      </p:grpSp>
      <p:sp>
        <p:nvSpPr>
          <p:cNvPr id="266525" name="Text Box 285"/>
          <p:cNvSpPr txBox="1">
            <a:spLocks noChangeArrowheads="1"/>
          </p:cNvSpPr>
          <p:nvPr/>
        </p:nvSpPr>
        <p:spPr bwMode="auto">
          <a:xfrm>
            <a:off x="3541713" y="3421063"/>
            <a:ext cx="855662" cy="2444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lIns="18000" tIns="0" rIns="18000" bIns="0">
            <a:spAutoFit/>
          </a:bodyPr>
          <a:lstStyle/>
          <a:p>
            <a:pPr algn="r"/>
            <a:r>
              <a:rPr lang="en-IE" sz="1600" i="1">
                <a:solidFill>
                  <a:srgbClr val="0033CC"/>
                </a:solidFill>
                <a:latin typeface="Times New Roman" pitchFamily="18" charset="0"/>
              </a:rPr>
              <a:t>3*3 Filter</a:t>
            </a:r>
            <a:endParaRPr lang="en-US" sz="1600" i="1">
              <a:solidFill>
                <a:srgbClr val="0033CC"/>
              </a:solidFill>
              <a:latin typeface="Times New Roman" pitchFamily="18" charset="0"/>
            </a:endParaRPr>
          </a:p>
        </p:txBody>
      </p:sp>
      <p:cxnSp>
        <p:nvCxnSpPr>
          <p:cNvPr id="266526" name="AutoShape 286"/>
          <p:cNvCxnSpPr>
            <a:cxnSpLocks noChangeShapeType="1"/>
            <a:stCxn id="266527" idx="6"/>
            <a:endCxn id="19751" idx="1"/>
          </p:cNvCxnSpPr>
          <p:nvPr/>
        </p:nvCxnSpPr>
        <p:spPr bwMode="auto">
          <a:xfrm flipV="1">
            <a:off x="3697288" y="2203450"/>
            <a:ext cx="3430587" cy="1347788"/>
          </a:xfrm>
          <a:prstGeom prst="curvedConnector3">
            <a:avLst>
              <a:gd name="adj1" fmla="val 49792"/>
            </a:avLst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</p:spPr>
      </p:cxnSp>
      <p:sp>
        <p:nvSpPr>
          <p:cNvPr id="266527" name="Oval 287"/>
          <p:cNvSpPr>
            <a:spLocks noChangeArrowheads="1"/>
          </p:cNvSpPr>
          <p:nvPr/>
        </p:nvSpPr>
        <p:spPr bwMode="auto">
          <a:xfrm>
            <a:off x="2595563" y="3013075"/>
            <a:ext cx="1076325" cy="1076325"/>
          </a:xfrm>
          <a:prstGeom prst="ellips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" name="Group 288"/>
          <p:cNvGrpSpPr>
            <a:grpSpLocks/>
          </p:cNvGrpSpPr>
          <p:nvPr/>
        </p:nvGrpSpPr>
        <p:grpSpPr bwMode="auto">
          <a:xfrm>
            <a:off x="4965700" y="1425575"/>
            <a:ext cx="1568450" cy="1560513"/>
            <a:chOff x="3689" y="895"/>
            <a:chExt cx="988" cy="983"/>
          </a:xfrm>
        </p:grpSpPr>
        <p:sp>
          <p:nvSpPr>
            <p:cNvPr id="19482" name="Rectangle 289"/>
            <p:cNvSpPr>
              <a:spLocks noChangeArrowheads="1"/>
            </p:cNvSpPr>
            <p:nvPr/>
          </p:nvSpPr>
          <p:spPr bwMode="auto">
            <a:xfrm>
              <a:off x="3689" y="895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a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483" name="Rectangle 290"/>
            <p:cNvSpPr>
              <a:spLocks noChangeArrowheads="1"/>
            </p:cNvSpPr>
            <p:nvPr/>
          </p:nvSpPr>
          <p:spPr bwMode="auto">
            <a:xfrm>
              <a:off x="4018" y="895"/>
              <a:ext cx="330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b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484" name="Rectangle 291"/>
            <p:cNvSpPr>
              <a:spLocks noChangeArrowheads="1"/>
            </p:cNvSpPr>
            <p:nvPr/>
          </p:nvSpPr>
          <p:spPr bwMode="auto">
            <a:xfrm>
              <a:off x="4348" y="895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c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485" name="Rectangle 292"/>
            <p:cNvSpPr>
              <a:spLocks noChangeArrowheads="1"/>
            </p:cNvSpPr>
            <p:nvPr/>
          </p:nvSpPr>
          <p:spPr bwMode="auto">
            <a:xfrm>
              <a:off x="3689" y="1220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d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486" name="Rectangle 293"/>
            <p:cNvSpPr>
              <a:spLocks noChangeArrowheads="1"/>
            </p:cNvSpPr>
            <p:nvPr/>
          </p:nvSpPr>
          <p:spPr bwMode="auto">
            <a:xfrm>
              <a:off x="4018" y="1220"/>
              <a:ext cx="330" cy="329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e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487" name="Rectangle 294"/>
            <p:cNvSpPr>
              <a:spLocks noChangeArrowheads="1"/>
            </p:cNvSpPr>
            <p:nvPr/>
          </p:nvSpPr>
          <p:spPr bwMode="auto">
            <a:xfrm>
              <a:off x="4348" y="1220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f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488" name="Rectangle 295"/>
            <p:cNvSpPr>
              <a:spLocks noChangeArrowheads="1"/>
            </p:cNvSpPr>
            <p:nvPr/>
          </p:nvSpPr>
          <p:spPr bwMode="auto">
            <a:xfrm>
              <a:off x="3689" y="1549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g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489" name="Rectangle 296"/>
            <p:cNvSpPr>
              <a:spLocks noChangeArrowheads="1"/>
            </p:cNvSpPr>
            <p:nvPr/>
          </p:nvSpPr>
          <p:spPr bwMode="auto">
            <a:xfrm>
              <a:off x="4018" y="1549"/>
              <a:ext cx="330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h</a:t>
              </a:r>
              <a:endParaRPr lang="en-US" sz="2400" i="1">
                <a:latin typeface="Times New Roman" pitchFamily="18" charset="0"/>
              </a:endParaRPr>
            </a:p>
          </p:txBody>
        </p:sp>
        <p:sp>
          <p:nvSpPr>
            <p:cNvPr id="19490" name="Rectangle 297"/>
            <p:cNvSpPr>
              <a:spLocks noChangeArrowheads="1"/>
            </p:cNvSpPr>
            <p:nvPr/>
          </p:nvSpPr>
          <p:spPr bwMode="auto">
            <a:xfrm>
              <a:off x="4348" y="1549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IE" sz="2400" i="1">
                  <a:latin typeface="Times New Roman" pitchFamily="18" charset="0"/>
                </a:rPr>
                <a:t>i</a:t>
              </a:r>
              <a:endParaRPr lang="en-US" sz="2400" i="1">
                <a:latin typeface="Times New Roman" pitchFamily="18" charset="0"/>
              </a:endParaRPr>
            </a:p>
          </p:txBody>
        </p:sp>
      </p:grpSp>
      <p:sp>
        <p:nvSpPr>
          <p:cNvPr id="266538" name="Text Box 298"/>
          <p:cNvSpPr txBox="1">
            <a:spLocks noChangeArrowheads="1"/>
          </p:cNvSpPr>
          <p:nvPr/>
        </p:nvSpPr>
        <p:spPr bwMode="auto">
          <a:xfrm>
            <a:off x="4840288" y="3017838"/>
            <a:ext cx="1820862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IE" b="1"/>
              <a:t>Original Image Pixels</a:t>
            </a:r>
            <a:endParaRPr lang="en-US" b="1"/>
          </a:p>
        </p:txBody>
      </p:sp>
      <p:sp>
        <p:nvSpPr>
          <p:cNvPr id="266539" name="Text Box 299"/>
          <p:cNvSpPr txBox="1">
            <a:spLocks noChangeArrowheads="1"/>
          </p:cNvSpPr>
          <p:nvPr/>
        </p:nvSpPr>
        <p:spPr bwMode="auto">
          <a:xfrm>
            <a:off x="6503988" y="1828800"/>
            <a:ext cx="527050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IE" sz="5400" i="1">
                <a:latin typeface="Times New Roman" pitchFamily="18" charset="0"/>
              </a:rPr>
              <a:t>*</a:t>
            </a:r>
            <a:endParaRPr lang="en-US" sz="5400" i="1">
              <a:latin typeface="Times New Roman" pitchFamily="18" charset="0"/>
            </a:endParaRPr>
          </a:p>
        </p:txBody>
      </p:sp>
      <p:sp>
        <p:nvSpPr>
          <p:cNvPr id="301" name="Rectangle 300"/>
          <p:cNvSpPr/>
          <p:nvPr/>
        </p:nvSpPr>
        <p:spPr>
          <a:xfrm>
            <a:off x="838200" y="5486400"/>
            <a:ext cx="7239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Linear operations consist of  multiplying each pixel in the neighborhood by a corresponding coefficient and summing the results to obtain the response at each point(</a:t>
            </a:r>
            <a:r>
              <a:rPr lang="en-US" dirty="0" err="1" smtClean="0"/>
              <a:t>x.y</a:t>
            </a:r>
            <a:r>
              <a:rPr lang="en-US" dirty="0" smtClean="0"/>
              <a:t>).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6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6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501" grpId="0"/>
      <p:bldP spid="266502" grpId="0"/>
      <p:bldP spid="266503" grpId="0" animBg="1"/>
      <p:bldP spid="266504" grpId="0" animBg="1"/>
      <p:bldP spid="266504" grpId="1" animBg="1"/>
      <p:bldP spid="266505" grpId="0" animBg="1"/>
      <p:bldP spid="266525" grpId="0" animBg="1"/>
      <p:bldP spid="266527" grpId="0" animBg="1"/>
      <p:bldP spid="266527" grpId="1" animBg="1"/>
      <p:bldP spid="266538" grpId="0"/>
      <p:bldP spid="2665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http://www.cs.uregina.ca/Links/class-info/425/Lab3/Picts/spatial/Filter1.jpg"/>
          <p:cNvPicPr>
            <a:picLocks noGrp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990601"/>
            <a:ext cx="7848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http://www.cs.uregina.ca/Links/class-info/425/Lab3/Picts/boundary/boundary_prob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1023937"/>
            <a:ext cx="6705599" cy="530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http://www.cs.uregina.ca/Links/class-info/425/Lab3/Picts/boundary/pad_zero_color.jpg"/>
          <p:cNvPicPr>
            <a:picLocks noGrp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600200"/>
            <a:ext cx="6248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http://www.cs.uregina.ca/Links/class-info/425/Lab3/Picts/boundary/pad_replicate_color.jpg"/>
          <p:cNvPicPr>
            <a:picLocks noGrp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838200"/>
            <a:ext cx="67056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TYPES OF 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7467600" cy="5026152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Two types of filters: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Smoothing Filters</a:t>
            </a:r>
          </a:p>
          <a:p>
            <a:pPr lvl="1"/>
            <a:r>
              <a:rPr lang="en-US" dirty="0" smtClean="0"/>
              <a:t>Sharpening Filters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TYPES OF 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7467600" cy="5026152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Two types of filters: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Smoothing Filters</a:t>
            </a:r>
          </a:p>
          <a:p>
            <a:pPr lvl="1"/>
            <a:r>
              <a:rPr lang="en-US" dirty="0" smtClean="0"/>
              <a:t>Sharpening Filters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Smoothing Spatial Filters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dirty="0"/>
              <a:t>Smoothing filters are used for blurring and for noise reduction.</a:t>
            </a:r>
          </a:p>
          <a:p>
            <a:pPr marL="990600" lvl="1" indent="-533400">
              <a:buFontTx/>
              <a:buChar char="–"/>
            </a:pPr>
            <a:r>
              <a:rPr lang="en-US" dirty="0"/>
              <a:t>Blurring is used in preprocessing steps, such as removal of small details from an image prior to object </a:t>
            </a:r>
            <a:r>
              <a:rPr lang="en-US" dirty="0" smtClean="0"/>
              <a:t>extraction.</a:t>
            </a:r>
          </a:p>
          <a:p>
            <a:pPr marL="990600" lvl="1" indent="-533400">
              <a:buFontTx/>
              <a:buChar char="–"/>
            </a:pPr>
            <a:r>
              <a:rPr lang="en-US" dirty="0" smtClean="0"/>
              <a:t>Noise </a:t>
            </a:r>
            <a:r>
              <a:rPr lang="en-US" dirty="0"/>
              <a:t>reduction can be accomplished by blurring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Average Smoothing Filters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   The </a:t>
            </a:r>
            <a:r>
              <a:rPr lang="en-US" dirty="0"/>
              <a:t>idea is replacing the value of every pixel in an image by the average of the gray levels in the </a:t>
            </a:r>
            <a:r>
              <a:rPr lang="en-US" dirty="0" smtClean="0"/>
              <a:t>neighborhood </a:t>
            </a:r>
            <a:r>
              <a:rPr lang="en-US" dirty="0"/>
              <a:t>defined by the filter mask</a:t>
            </a:r>
            <a:r>
              <a:rPr lang="en-US" dirty="0" smtClean="0"/>
              <a:t>.</a:t>
            </a:r>
          </a:p>
          <a:p>
            <a:pPr>
              <a:lnSpc>
                <a:spcPct val="90000"/>
              </a:lnSpc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Two 3x3 Smoothing </a:t>
            </a:r>
            <a:r>
              <a:rPr lang="en-US" sz="4000" dirty="0" smtClean="0"/>
              <a:t>Filters</a:t>
            </a:r>
            <a:endParaRPr lang="en-US" sz="4000" dirty="0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1524000" y="2819400"/>
            <a:ext cx="2514600" cy="2514600"/>
            <a:chOff x="960" y="1776"/>
            <a:chExt cx="1584" cy="1584"/>
          </a:xfrm>
        </p:grpSpPr>
        <p:sp>
          <p:nvSpPr>
            <p:cNvPr id="14340" name="Rectangle 4"/>
            <p:cNvSpPr>
              <a:spLocks noChangeArrowheads="1"/>
            </p:cNvSpPr>
            <p:nvPr/>
          </p:nvSpPr>
          <p:spPr bwMode="auto">
            <a:xfrm>
              <a:off x="960" y="1776"/>
              <a:ext cx="528" cy="52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1</a:t>
              </a:r>
              <a:endParaRPr lang="th-TH" sz="2800"/>
            </a:p>
          </p:txBody>
        </p:sp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1488" y="1776"/>
              <a:ext cx="528" cy="52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1</a:t>
              </a:r>
              <a:endParaRPr lang="th-TH" sz="2800"/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016" y="1776"/>
              <a:ext cx="528" cy="52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1</a:t>
              </a:r>
              <a:endParaRPr lang="th-TH" sz="2800"/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960" y="2304"/>
              <a:ext cx="528" cy="52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1</a:t>
              </a:r>
              <a:endParaRPr lang="th-TH" sz="2800"/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1488" y="2304"/>
              <a:ext cx="528" cy="52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1</a:t>
              </a:r>
              <a:endParaRPr lang="th-TH" sz="2800"/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2016" y="2304"/>
              <a:ext cx="528" cy="52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1</a:t>
              </a:r>
              <a:endParaRPr lang="th-TH" sz="2800"/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960" y="2832"/>
              <a:ext cx="528" cy="52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1</a:t>
              </a:r>
              <a:endParaRPr lang="th-TH" sz="2800"/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1488" y="2832"/>
              <a:ext cx="528" cy="52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1</a:t>
              </a:r>
              <a:endParaRPr lang="th-TH" sz="2800"/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016" y="2832"/>
              <a:ext cx="528" cy="52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1</a:t>
              </a:r>
              <a:endParaRPr lang="th-TH" sz="2800"/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5791200" y="2819400"/>
            <a:ext cx="2514600" cy="2514600"/>
            <a:chOff x="2976" y="1776"/>
            <a:chExt cx="1584" cy="1584"/>
          </a:xfrm>
        </p:grpSpPr>
        <p:sp>
          <p:nvSpPr>
            <p:cNvPr id="14351" name="Rectangle 15"/>
            <p:cNvSpPr>
              <a:spLocks noChangeArrowheads="1"/>
            </p:cNvSpPr>
            <p:nvPr/>
          </p:nvSpPr>
          <p:spPr bwMode="auto">
            <a:xfrm>
              <a:off x="2976" y="1776"/>
              <a:ext cx="528" cy="52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1</a:t>
              </a:r>
              <a:endParaRPr lang="th-TH" sz="2800"/>
            </a:p>
          </p:txBody>
        </p:sp>
        <p:sp>
          <p:nvSpPr>
            <p:cNvPr id="14352" name="Rectangle 16"/>
            <p:cNvSpPr>
              <a:spLocks noChangeArrowheads="1"/>
            </p:cNvSpPr>
            <p:nvPr/>
          </p:nvSpPr>
          <p:spPr bwMode="auto">
            <a:xfrm>
              <a:off x="3504" y="1776"/>
              <a:ext cx="528" cy="52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2</a:t>
              </a:r>
              <a:endParaRPr lang="th-TH" sz="2800"/>
            </a:p>
          </p:txBody>
        </p:sp>
        <p:sp>
          <p:nvSpPr>
            <p:cNvPr id="14353" name="Rectangle 17"/>
            <p:cNvSpPr>
              <a:spLocks noChangeArrowheads="1"/>
            </p:cNvSpPr>
            <p:nvPr/>
          </p:nvSpPr>
          <p:spPr bwMode="auto">
            <a:xfrm>
              <a:off x="4032" y="1776"/>
              <a:ext cx="528" cy="52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1</a:t>
              </a:r>
              <a:endParaRPr lang="th-TH" sz="2800"/>
            </a:p>
          </p:txBody>
        </p:sp>
        <p:sp>
          <p:nvSpPr>
            <p:cNvPr id="14354" name="Rectangle 18"/>
            <p:cNvSpPr>
              <a:spLocks noChangeArrowheads="1"/>
            </p:cNvSpPr>
            <p:nvPr/>
          </p:nvSpPr>
          <p:spPr bwMode="auto">
            <a:xfrm>
              <a:off x="2976" y="2304"/>
              <a:ext cx="528" cy="52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2</a:t>
              </a:r>
              <a:endParaRPr lang="th-TH" sz="2800"/>
            </a:p>
          </p:txBody>
        </p:sp>
        <p:sp>
          <p:nvSpPr>
            <p:cNvPr id="14355" name="Rectangle 19"/>
            <p:cNvSpPr>
              <a:spLocks noChangeArrowheads="1"/>
            </p:cNvSpPr>
            <p:nvPr/>
          </p:nvSpPr>
          <p:spPr bwMode="auto">
            <a:xfrm>
              <a:off x="3504" y="2304"/>
              <a:ext cx="528" cy="52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4</a:t>
              </a:r>
              <a:endParaRPr lang="th-TH" sz="2800"/>
            </a:p>
          </p:txBody>
        </p:sp>
        <p:sp>
          <p:nvSpPr>
            <p:cNvPr id="14356" name="Rectangle 20"/>
            <p:cNvSpPr>
              <a:spLocks noChangeArrowheads="1"/>
            </p:cNvSpPr>
            <p:nvPr/>
          </p:nvSpPr>
          <p:spPr bwMode="auto">
            <a:xfrm>
              <a:off x="4032" y="2304"/>
              <a:ext cx="528" cy="52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2</a:t>
              </a:r>
              <a:endParaRPr lang="th-TH" sz="2800"/>
            </a:p>
          </p:txBody>
        </p:sp>
        <p:sp>
          <p:nvSpPr>
            <p:cNvPr id="14357" name="Rectangle 21"/>
            <p:cNvSpPr>
              <a:spLocks noChangeArrowheads="1"/>
            </p:cNvSpPr>
            <p:nvPr/>
          </p:nvSpPr>
          <p:spPr bwMode="auto">
            <a:xfrm>
              <a:off x="2976" y="2832"/>
              <a:ext cx="528" cy="52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1</a:t>
              </a:r>
              <a:endParaRPr lang="th-TH" sz="2800"/>
            </a:p>
          </p:txBody>
        </p:sp>
        <p:sp>
          <p:nvSpPr>
            <p:cNvPr id="14358" name="Rectangle 22"/>
            <p:cNvSpPr>
              <a:spLocks noChangeArrowheads="1"/>
            </p:cNvSpPr>
            <p:nvPr/>
          </p:nvSpPr>
          <p:spPr bwMode="auto">
            <a:xfrm>
              <a:off x="3504" y="2832"/>
              <a:ext cx="528" cy="52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2</a:t>
              </a:r>
              <a:endParaRPr lang="th-TH" sz="2800"/>
            </a:p>
          </p:txBody>
        </p:sp>
        <p:sp>
          <p:nvSpPr>
            <p:cNvPr id="14359" name="Rectangle 23"/>
            <p:cNvSpPr>
              <a:spLocks noChangeArrowheads="1"/>
            </p:cNvSpPr>
            <p:nvPr/>
          </p:nvSpPr>
          <p:spPr bwMode="auto">
            <a:xfrm>
              <a:off x="4032" y="2832"/>
              <a:ext cx="528" cy="52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/>
                <a:t>1</a:t>
              </a:r>
              <a:endParaRPr lang="th-TH" sz="2800"/>
            </a:p>
          </p:txBody>
        </p:sp>
      </p:grpSp>
      <p:graphicFrame>
        <p:nvGraphicFramePr>
          <p:cNvPr id="14363" name="Object 27"/>
          <p:cNvGraphicFramePr>
            <a:graphicFrameLocks noChangeAspect="1"/>
          </p:cNvGraphicFramePr>
          <p:nvPr/>
        </p:nvGraphicFramePr>
        <p:xfrm>
          <a:off x="914400" y="3657600"/>
          <a:ext cx="606425" cy="990600"/>
        </p:xfrm>
        <a:graphic>
          <a:graphicData uri="http://schemas.openxmlformats.org/presentationml/2006/ole">
            <p:oleObj spid="_x0000_s198658" name="Equation" r:id="rId4" imgW="241200" imgH="393480" progId="Equation.3">
              <p:embed/>
            </p:oleObj>
          </a:graphicData>
        </a:graphic>
      </p:graphicFrame>
      <p:graphicFrame>
        <p:nvGraphicFramePr>
          <p:cNvPr id="14364" name="Object 28"/>
          <p:cNvGraphicFramePr>
            <a:graphicFrameLocks noChangeAspect="1"/>
          </p:cNvGraphicFramePr>
          <p:nvPr/>
        </p:nvGraphicFramePr>
        <p:xfrm>
          <a:off x="4953000" y="3581400"/>
          <a:ext cx="766763" cy="990600"/>
        </p:xfrm>
        <a:graphic>
          <a:graphicData uri="http://schemas.openxmlformats.org/presentationml/2006/ole">
            <p:oleObj spid="_x0000_s198659" name="Equation" r:id="rId5" imgW="304560" imgH="393480" progId="Equation.3">
              <p:embed/>
            </p:oleObj>
          </a:graphicData>
        </a:graphic>
      </p:graphicFrame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1447800" y="5486400"/>
            <a:ext cx="26400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Standard average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5702300" y="5500688"/>
            <a:ext cx="2755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Weighted average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3625" y="1566863"/>
            <a:ext cx="3446463" cy="5138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5770563" y="1592263"/>
            <a:ext cx="1800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i="1">
                <a:latin typeface="Times New Roman" pitchFamily="18" charset="0"/>
              </a:rPr>
              <a:t>n</a:t>
            </a:r>
            <a:r>
              <a:rPr lang="en-US" sz="2400">
                <a:latin typeface="Times New Roman" pitchFamily="18" charset="0"/>
              </a:rPr>
              <a:t> = filter size</a:t>
            </a:r>
          </a:p>
        </p:txBody>
      </p:sp>
      <p:sp>
        <p:nvSpPr>
          <p:cNvPr id="65542" name="Text Box 6"/>
          <p:cNvSpPr txBox="1">
            <a:spLocks noChangeArrowheads="1"/>
          </p:cNvSpPr>
          <p:nvPr/>
        </p:nvSpPr>
        <p:spPr bwMode="auto">
          <a:xfrm>
            <a:off x="4535488" y="2262188"/>
            <a:ext cx="81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i="1">
                <a:latin typeface="Times New Roman" pitchFamily="18" charset="0"/>
              </a:rPr>
              <a:t>n</a:t>
            </a:r>
            <a:r>
              <a:rPr lang="en-US" sz="2400">
                <a:latin typeface="Times New Roman" pitchFamily="18" charset="0"/>
              </a:rPr>
              <a:t> = 3</a:t>
            </a:r>
          </a:p>
        </p:txBody>
      </p:sp>
      <p:sp>
        <p:nvSpPr>
          <p:cNvPr id="65543" name="Text Box 7"/>
          <p:cNvSpPr txBox="1">
            <a:spLocks noChangeArrowheads="1"/>
          </p:cNvSpPr>
          <p:nvPr/>
        </p:nvSpPr>
        <p:spPr bwMode="auto">
          <a:xfrm>
            <a:off x="195263" y="3797300"/>
            <a:ext cx="81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i="1">
                <a:latin typeface="Times New Roman" pitchFamily="18" charset="0"/>
              </a:rPr>
              <a:t>n</a:t>
            </a:r>
            <a:r>
              <a:rPr lang="en-US" sz="2400">
                <a:latin typeface="Times New Roman" pitchFamily="18" charset="0"/>
              </a:rPr>
              <a:t> = 5</a:t>
            </a:r>
          </a:p>
        </p:txBody>
      </p:sp>
      <p:sp>
        <p:nvSpPr>
          <p:cNvPr id="65544" name="Text Box 8"/>
          <p:cNvSpPr txBox="1">
            <a:spLocks noChangeArrowheads="1"/>
          </p:cNvSpPr>
          <p:nvPr/>
        </p:nvSpPr>
        <p:spPr bwMode="auto">
          <a:xfrm>
            <a:off x="4540250" y="3863975"/>
            <a:ext cx="81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i="1">
                <a:latin typeface="Times New Roman" pitchFamily="18" charset="0"/>
              </a:rPr>
              <a:t>n</a:t>
            </a:r>
            <a:r>
              <a:rPr lang="en-US" sz="2400">
                <a:latin typeface="Times New Roman" pitchFamily="18" charset="0"/>
              </a:rPr>
              <a:t> = 9</a:t>
            </a:r>
          </a:p>
        </p:txBody>
      </p:sp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193675" y="5688013"/>
            <a:ext cx="96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i="1">
                <a:latin typeface="Times New Roman" pitchFamily="18" charset="0"/>
              </a:rPr>
              <a:t>n</a:t>
            </a:r>
            <a:r>
              <a:rPr lang="en-US" sz="2400">
                <a:latin typeface="Times New Roman" pitchFamily="18" charset="0"/>
              </a:rPr>
              <a:t> = 15</a:t>
            </a:r>
          </a:p>
        </p:txBody>
      </p:sp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4527550" y="5045075"/>
            <a:ext cx="96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i="1">
                <a:latin typeface="Times New Roman" pitchFamily="18" charset="0"/>
              </a:rPr>
              <a:t>n</a:t>
            </a:r>
            <a:r>
              <a:rPr lang="en-US" sz="2400">
                <a:latin typeface="Times New Roman" pitchFamily="18" charset="0"/>
              </a:rPr>
              <a:t> = 35</a:t>
            </a:r>
          </a:p>
        </p:txBody>
      </p:sp>
      <p:sp>
        <p:nvSpPr>
          <p:cNvPr id="65547" name="Rectangle 11"/>
          <p:cNvSpPr>
            <a:spLocks noChangeArrowheads="1"/>
          </p:cNvSpPr>
          <p:nvPr/>
        </p:nvSpPr>
        <p:spPr bwMode="auto">
          <a:xfrm>
            <a:off x="609600" y="304800"/>
            <a:ext cx="806608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en-US" sz="2800" b="1" i="1" dirty="0">
                <a:solidFill>
                  <a:srgbClr val="CC3300"/>
                </a:solidFill>
              </a:rPr>
              <a:t>Smoothing Spatial Filtering _ Linear</a:t>
            </a:r>
            <a:br>
              <a:rPr lang="en-US" sz="2800" b="1" i="1" dirty="0">
                <a:solidFill>
                  <a:srgbClr val="CC3300"/>
                </a:solidFill>
              </a:rPr>
            </a:br>
            <a:r>
              <a:rPr lang="en-US" sz="2800" b="1" i="1" dirty="0">
                <a:solidFill>
                  <a:schemeClr val="tx2"/>
                </a:solidFill>
              </a:rPr>
              <a:t>Averaging (low-pass) Filters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ChangeArrowheads="1"/>
          </p:cNvSpPr>
          <p:nvPr/>
        </p:nvSpPr>
        <p:spPr bwMode="auto">
          <a:xfrm>
            <a:off x="0" y="1524000"/>
            <a:ext cx="3581400" cy="3570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r>
              <a:rPr lang="en-US" sz="2400" dirty="0" smtClean="0"/>
              <a:t>close all;</a:t>
            </a:r>
          </a:p>
          <a:p>
            <a:r>
              <a:rPr lang="en-US" sz="2400" dirty="0" smtClean="0"/>
              <a:t>r= </a:t>
            </a:r>
            <a:r>
              <a:rPr lang="en-US" sz="2400" dirty="0" err="1" smtClean="0"/>
              <a:t>imread</a:t>
            </a:r>
            <a:r>
              <a:rPr lang="en-US" sz="2400" dirty="0" smtClean="0"/>
              <a:t>('rice.png');</a:t>
            </a:r>
          </a:p>
          <a:p>
            <a:r>
              <a:rPr lang="en-US" sz="2400" dirty="0" err="1" smtClean="0"/>
              <a:t>figure,imshow</a:t>
            </a:r>
            <a:r>
              <a:rPr lang="en-US" sz="2400" dirty="0" smtClean="0"/>
              <a:t>(r);</a:t>
            </a:r>
          </a:p>
          <a:p>
            <a:r>
              <a:rPr lang="en-US" sz="2400" dirty="0" smtClean="0"/>
              <a:t>f=</a:t>
            </a:r>
            <a:r>
              <a:rPr lang="en-US" sz="2400" dirty="0" err="1" smtClean="0"/>
              <a:t>fspecial</a:t>
            </a:r>
            <a:r>
              <a:rPr lang="en-US" sz="2400" dirty="0" smtClean="0"/>
              <a:t>('average',[9]);</a:t>
            </a:r>
          </a:p>
          <a:p>
            <a:r>
              <a:rPr lang="en-US" sz="2400" dirty="0" smtClean="0"/>
              <a:t>g=</a:t>
            </a:r>
            <a:r>
              <a:rPr lang="en-US" sz="2400" dirty="0" err="1" smtClean="0"/>
              <a:t>imfilter</a:t>
            </a:r>
            <a:r>
              <a:rPr lang="en-US" sz="2400" dirty="0" smtClean="0"/>
              <a:t>(</a:t>
            </a:r>
            <a:r>
              <a:rPr lang="en-US" sz="2400" dirty="0" err="1" smtClean="0"/>
              <a:t>r,f</a:t>
            </a:r>
            <a:r>
              <a:rPr lang="en-US" sz="2400" dirty="0" smtClean="0"/>
              <a:t>);</a:t>
            </a:r>
          </a:p>
          <a:p>
            <a:r>
              <a:rPr lang="en-US" sz="2400" dirty="0" err="1" smtClean="0"/>
              <a:t>figure,imshow</a:t>
            </a:r>
            <a:r>
              <a:rPr lang="en-US" sz="2400" dirty="0" smtClean="0"/>
              <a:t>(g);</a:t>
            </a:r>
          </a:p>
          <a:p>
            <a:r>
              <a:rPr lang="en-US" sz="2400" dirty="0" smtClean="0"/>
              <a:t>u=r-g;</a:t>
            </a:r>
          </a:p>
          <a:p>
            <a:r>
              <a:rPr lang="en-US" sz="2400" dirty="0" err="1" smtClean="0"/>
              <a:t>figure,imshow</a:t>
            </a:r>
            <a:r>
              <a:rPr lang="en-US" sz="2400" dirty="0" smtClean="0"/>
              <a:t>(u);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" y="304800"/>
            <a:ext cx="487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>
                <a:solidFill>
                  <a:srgbClr val="CC3300"/>
                </a:solidFill>
              </a:rPr>
              <a:t>Smoothing Spatial Filtering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1000" y="838200"/>
            <a:ext cx="4267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>
                <a:solidFill>
                  <a:schemeClr val="tx2"/>
                </a:solidFill>
              </a:rPr>
              <a:t>Averaging (low-pass) Filters</a:t>
            </a:r>
            <a:endParaRPr lang="en-US" dirty="0"/>
          </a:p>
        </p:txBody>
      </p:sp>
      <p:pic>
        <p:nvPicPr>
          <p:cNvPr id="24883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3352800"/>
            <a:ext cx="5867400" cy="2197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1" name="Rectangle 1"/>
          <p:cNvSpPr>
            <a:spLocks noChangeArrowheads="1"/>
          </p:cNvSpPr>
          <p:nvPr/>
        </p:nvSpPr>
        <p:spPr bwMode="auto">
          <a:xfrm>
            <a:off x="0" y="0"/>
            <a:ext cx="4953000" cy="7017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close all;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a=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imread</a:t>
            </a: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lang="en-US" sz="1600" dirty="0" smtClean="0"/>
              <a:t>'pout.tif‘);</a:t>
            </a:r>
            <a:endParaRPr lang="en-US" sz="1600" dirty="0" smtClean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w=[1/9 1/9 1/9; 1/9 1/9 1/9; 1/9 1/9 1/9]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b=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imfilter</a:t>
            </a: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a,w</a:t>
            </a: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w1=[1/25 1/25 1/25 1/25 1/25;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1/25 1/25 1/25 1/25 1/25;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1/25 1/25 1/25 1/25 1/25; 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1/25 1/25 1/25 1/25 1/25;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1/25 1/25 1/25 1/25 1/25]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b1=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imfilter</a:t>
            </a: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(a,w1);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w2=[1/49 1/49 1/49 1/49 1/49 1/49 1/49;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1/49 1/49 1/49 1/49 1/49 1/49 1/49;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1/49 1/49 1/49 1/49 1/49 1/49 1/49; 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1/49 1/49 1/49 1/49 1/49 1/49 1/49;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1/49 1/49 1/49 1/49 1/49 1/49 1/49;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1/49 1/49 1/49 1/49 1/49 1/49 1/49;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1/49 1/49 1/49 1/49 1/49 1/49 1/49]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b2=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imfilter</a:t>
            </a: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(a,w2);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w3=[1/81 1/81 1/81 1/81 1/81 1/81 1/81 1/81 1/81;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1/81 1/81 1/81 1/81 1/81 1/81 1/81 1/81 1/81;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1/81 1/81 1/81 1/81 1/81 1/81 1/81 1/81 1/81;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1/81 1/81 1/81 1/81 1/81 1/81 1/81 1/81 1/81;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1/81 1/81 1/81 1/81 1/81 1/81 1/81 1/81 1/81;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1/81 1/81 1/81 1/81 1/81 1/81 1/81 1/81 1/81;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1/81 1/81 1/81 1/81 1/81 1/81 1/81 1/81 1/81]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b3=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imfilter</a:t>
            </a: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(a,w3);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3657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figure(1);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subplot(2,3,1);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imshow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(a);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title(</a:t>
            </a:r>
            <a:r>
              <a:rPr lang="en-US" dirty="0" smtClean="0">
                <a:solidFill>
                  <a:srgbClr val="A020F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'original image'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subplot(2,3,2);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imshow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(b);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title(</a:t>
            </a:r>
            <a:r>
              <a:rPr lang="en-US" dirty="0" smtClean="0">
                <a:solidFill>
                  <a:srgbClr val="A020F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'average filter output with 3*3'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subplot(2,3,3);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imshow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(b1);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title(</a:t>
            </a:r>
            <a:r>
              <a:rPr lang="en-US" dirty="0" smtClean="0">
                <a:solidFill>
                  <a:srgbClr val="A020F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'average filter output with 5*5'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subplot(2,3,4);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imshow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(b2);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title(</a:t>
            </a:r>
            <a:r>
              <a:rPr lang="en-US" dirty="0" smtClean="0">
                <a:solidFill>
                  <a:srgbClr val="A020F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'average filter output with 7*7'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subplot(2,3,5);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imshow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(b3);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title(</a:t>
            </a:r>
            <a:r>
              <a:rPr lang="en-US" dirty="0" smtClean="0">
                <a:solidFill>
                  <a:srgbClr val="A020F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'average filter output with 9*9'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);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780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4675756"/>
            <a:ext cx="3581400" cy="1877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609600" y="1828800"/>
            <a:ext cx="827563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latin typeface="Times New Roman" pitchFamily="18" charset="0"/>
              </a:rPr>
              <a:t>3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 3 </a:t>
            </a:r>
            <a:r>
              <a:rPr lang="en-US" sz="2400" dirty="0">
                <a:latin typeface="Times New Roman" pitchFamily="18" charset="0"/>
              </a:rPr>
              <a:t>Median filter   [10 125 125 135 141 141 144 230 240] = 141</a:t>
            </a:r>
          </a:p>
          <a:p>
            <a:pPr eaLnBrk="0" hangingPunct="0"/>
            <a:r>
              <a:rPr lang="en-US" sz="2400" dirty="0">
                <a:latin typeface="Times New Roman" pitchFamily="18" charset="0"/>
              </a:rPr>
              <a:t>3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 3 </a:t>
            </a:r>
            <a:r>
              <a:rPr lang="en-US" sz="2400" dirty="0">
                <a:latin typeface="Times New Roman" pitchFamily="18" charset="0"/>
              </a:rPr>
              <a:t>Max filter        [10 125 125 135 141 141 144 230 240] = 240</a:t>
            </a:r>
          </a:p>
          <a:p>
            <a:pPr eaLnBrk="0" hangingPunct="0"/>
            <a:r>
              <a:rPr lang="en-US" sz="2400" dirty="0">
                <a:latin typeface="Times New Roman" pitchFamily="18" charset="0"/>
              </a:rPr>
              <a:t>3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 3 </a:t>
            </a:r>
            <a:r>
              <a:rPr lang="en-US" sz="2400" dirty="0">
                <a:latin typeface="Times New Roman" pitchFamily="18" charset="0"/>
              </a:rPr>
              <a:t>Min filter         [10 125 125 135 141 141 144 230 240] = 10</a:t>
            </a:r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609600" y="304800"/>
            <a:ext cx="806608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en-US" sz="2800" b="1" i="1" dirty="0">
                <a:solidFill>
                  <a:srgbClr val="CC3300"/>
                </a:solidFill>
              </a:rPr>
              <a:t>Smoothing Spatial Filtering</a:t>
            </a:r>
            <a:br>
              <a:rPr lang="en-US" sz="2800" b="1" i="1" dirty="0">
                <a:solidFill>
                  <a:srgbClr val="CC3300"/>
                </a:solidFill>
              </a:rPr>
            </a:br>
            <a:r>
              <a:rPr lang="en-US" sz="2800" b="1" i="1" dirty="0" smtClean="0">
                <a:solidFill>
                  <a:schemeClr val="tx2"/>
                </a:solidFill>
              </a:rPr>
              <a:t>Order Statistic Filters</a:t>
            </a:r>
            <a:endParaRPr lang="en-US" sz="2800" b="1" i="1" dirty="0">
              <a:solidFill>
                <a:schemeClr val="tx2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3459163"/>
            <a:ext cx="7416800" cy="339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Smoothing Filters: </a:t>
            </a:r>
            <a:r>
              <a:rPr lang="en-US" sz="2800" dirty="0" smtClean="0">
                <a:solidFill>
                  <a:schemeClr val="accent2"/>
                </a:solidFill>
              </a:rPr>
              <a:t>Median Filtering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I = </a:t>
            </a:r>
            <a:r>
              <a:rPr lang="en-US" dirty="0" err="1" smtClean="0"/>
              <a:t>imread</a:t>
            </a:r>
            <a:r>
              <a:rPr lang="en-US" dirty="0" smtClean="0"/>
              <a:t>('eight.tif'); </a:t>
            </a:r>
          </a:p>
          <a:p>
            <a:pPr>
              <a:buNone/>
            </a:pPr>
            <a:r>
              <a:rPr lang="en-US" dirty="0" smtClean="0"/>
              <a:t>J = </a:t>
            </a:r>
            <a:r>
              <a:rPr lang="en-US" dirty="0" err="1" smtClean="0"/>
              <a:t>imnoise</a:t>
            </a:r>
            <a:r>
              <a:rPr lang="en-US" dirty="0" smtClean="0"/>
              <a:t>(I,'salt &amp; pepper',0.02); </a:t>
            </a:r>
          </a:p>
          <a:p>
            <a:pPr>
              <a:buNone/>
            </a:pPr>
            <a:r>
              <a:rPr lang="en-US" dirty="0" smtClean="0"/>
              <a:t>figure, </a:t>
            </a:r>
            <a:r>
              <a:rPr lang="en-US" dirty="0" err="1" smtClean="0"/>
              <a:t>imshow</a:t>
            </a:r>
            <a:r>
              <a:rPr lang="en-US" dirty="0" smtClean="0"/>
              <a:t>(I)</a:t>
            </a:r>
          </a:p>
          <a:p>
            <a:pPr>
              <a:buNone/>
            </a:pPr>
            <a:r>
              <a:rPr lang="en-US" dirty="0" smtClean="0"/>
              <a:t> figure, </a:t>
            </a:r>
            <a:r>
              <a:rPr lang="en-US" dirty="0" err="1" smtClean="0"/>
              <a:t>imshow</a:t>
            </a:r>
            <a:r>
              <a:rPr lang="en-US" dirty="0" smtClean="0"/>
              <a:t>(J)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7884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3657600"/>
            <a:ext cx="5114925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 smtClean="0"/>
              <a:t>Smoothing Filters: </a:t>
            </a:r>
            <a:r>
              <a:rPr lang="en-US" sz="3200" dirty="0" smtClean="0">
                <a:solidFill>
                  <a:schemeClr val="accent2"/>
                </a:solidFill>
              </a:rPr>
              <a:t>Median Filtering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I = </a:t>
            </a:r>
            <a:r>
              <a:rPr lang="en-US" dirty="0" err="1" smtClean="0"/>
              <a:t>imread</a:t>
            </a:r>
            <a:r>
              <a:rPr lang="en-US" dirty="0" smtClean="0"/>
              <a:t>('eight.tif'); </a:t>
            </a:r>
          </a:p>
          <a:p>
            <a:pPr>
              <a:buNone/>
            </a:pPr>
            <a:r>
              <a:rPr lang="en-US" dirty="0" smtClean="0"/>
              <a:t>J = </a:t>
            </a:r>
            <a:r>
              <a:rPr lang="en-US" dirty="0" err="1" smtClean="0"/>
              <a:t>imnoise</a:t>
            </a:r>
            <a:r>
              <a:rPr lang="en-US" dirty="0" smtClean="0"/>
              <a:t>(</a:t>
            </a:r>
            <a:r>
              <a:rPr lang="en-US" dirty="0" err="1" smtClean="0"/>
              <a:t>I,'salt</a:t>
            </a:r>
            <a:r>
              <a:rPr lang="en-US" dirty="0" smtClean="0"/>
              <a:t> &amp; pepper',0.02);</a:t>
            </a:r>
          </a:p>
          <a:p>
            <a:pPr>
              <a:buNone/>
            </a:pPr>
            <a:r>
              <a:rPr lang="en-US" dirty="0" smtClean="0"/>
              <a:t> K = medfilt2(J); </a:t>
            </a:r>
          </a:p>
          <a:p>
            <a:pPr>
              <a:buNone/>
            </a:pPr>
            <a:r>
              <a:rPr lang="en-US" dirty="0" err="1" smtClean="0"/>
              <a:t>imshow</a:t>
            </a:r>
            <a:r>
              <a:rPr lang="en-US" dirty="0" smtClean="0"/>
              <a:t>(J);</a:t>
            </a:r>
          </a:p>
          <a:p>
            <a:pPr>
              <a:buNone/>
            </a:pPr>
            <a:r>
              <a:rPr lang="en-US" dirty="0" smtClean="0"/>
              <a:t>figure, </a:t>
            </a:r>
            <a:r>
              <a:rPr lang="en-US" dirty="0" err="1" smtClean="0"/>
              <a:t>imshow</a:t>
            </a:r>
            <a:r>
              <a:rPr lang="en-US" dirty="0" smtClean="0"/>
              <a:t>(K);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7680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3886200"/>
            <a:ext cx="271462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3810000"/>
            <a:ext cx="2743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TYPES OF 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7467600" cy="5026152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Two types of filters: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Smoothing Filters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Sharpening Filters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Sharpening Spatial Filters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principal objective of sharpening is to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Highlight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fine detail in 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image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enhance detail that has been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blurred 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457201"/>
            <a:ext cx="7772400" cy="838200"/>
          </a:xfrm>
        </p:spPr>
        <p:txBody>
          <a:bodyPr>
            <a:normAutofit/>
          </a:bodyPr>
          <a:lstStyle/>
          <a:p>
            <a:r>
              <a:rPr lang="en-US" dirty="0" err="1"/>
              <a:t>Unsharp</a:t>
            </a:r>
            <a:r>
              <a:rPr lang="en-US" dirty="0"/>
              <a:t> masking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305800" cy="4967288"/>
          </a:xfrm>
        </p:spPr>
        <p:txBody>
          <a:bodyPr>
            <a:normAutofit/>
          </a:bodyPr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process to sharpen images consists of subtracting a blurred version of an image from the image itself. This process, called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unsharp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masking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is expressed as</a:t>
            </a:r>
          </a:p>
        </p:txBody>
      </p:sp>
      <p:graphicFrame>
        <p:nvGraphicFramePr>
          <p:cNvPr id="59396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2819400" y="3352800"/>
          <a:ext cx="3001963" cy="434975"/>
        </p:xfrm>
        <a:graphic>
          <a:graphicData uri="http://schemas.openxmlformats.org/presentationml/2006/ole">
            <p:oleObj spid="_x0000_s204802" name="Equation" r:id="rId4" imgW="1663560" imgH="241200" progId="Equation.3">
              <p:embed/>
            </p:oleObj>
          </a:graphicData>
        </a:graphic>
      </p:graphicFrame>
      <p:graphicFrame>
        <p:nvGraphicFramePr>
          <p:cNvPr id="59398" name="Object 6"/>
          <p:cNvGraphicFramePr>
            <a:graphicFrameLocks noChangeAspect="1"/>
          </p:cNvGraphicFramePr>
          <p:nvPr>
            <p:ph sz="quarter" idx="3"/>
          </p:nvPr>
        </p:nvGraphicFramePr>
        <p:xfrm>
          <a:off x="1981200" y="4191000"/>
          <a:ext cx="817563" cy="368300"/>
        </p:xfrm>
        <a:graphic>
          <a:graphicData uri="http://schemas.openxmlformats.org/presentationml/2006/ole">
            <p:oleObj spid="_x0000_s204803" name="Equation" r:id="rId5" imgW="507960" imgH="228600" progId="Equation.3">
              <p:embed/>
            </p:oleObj>
          </a:graphicData>
        </a:graphic>
      </p:graphicFrame>
      <p:graphicFrame>
        <p:nvGraphicFramePr>
          <p:cNvPr id="59400" name="Object 8"/>
          <p:cNvGraphicFramePr>
            <a:graphicFrameLocks noChangeAspect="1"/>
          </p:cNvGraphicFramePr>
          <p:nvPr/>
        </p:nvGraphicFramePr>
        <p:xfrm>
          <a:off x="5715000" y="4572000"/>
          <a:ext cx="769938" cy="323850"/>
        </p:xfrm>
        <a:graphic>
          <a:graphicData uri="http://schemas.openxmlformats.org/presentationml/2006/ole">
            <p:oleObj spid="_x0000_s204804" name="Equation" r:id="rId6" imgW="482400" imgH="203040" progId="Equation.3">
              <p:embed/>
            </p:oleObj>
          </a:graphicData>
        </a:graphic>
      </p:graphicFrame>
      <p:graphicFrame>
        <p:nvGraphicFramePr>
          <p:cNvPr id="59401" name="Object 9"/>
          <p:cNvGraphicFramePr>
            <a:graphicFrameLocks noChangeAspect="1"/>
          </p:cNvGraphicFramePr>
          <p:nvPr/>
        </p:nvGraphicFramePr>
        <p:xfrm>
          <a:off x="2590800" y="4572000"/>
          <a:ext cx="766763" cy="363538"/>
        </p:xfrm>
        <a:graphic>
          <a:graphicData uri="http://schemas.openxmlformats.org/presentationml/2006/ole">
            <p:oleObj spid="_x0000_s204805" name="Equation" r:id="rId7" imgW="482400" imgH="228600" progId="Equation.3">
              <p:embed/>
            </p:oleObj>
          </a:graphicData>
        </a:graphic>
      </p:graphicFrame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1066800" y="4267200"/>
            <a:ext cx="77120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Where               </a:t>
            </a:r>
            <a:r>
              <a:rPr lang="en-US" dirty="0" smtClean="0"/>
              <a:t>  denotes </a:t>
            </a:r>
            <a:r>
              <a:rPr lang="en-US" dirty="0"/>
              <a:t>the sharpened image obtained by </a:t>
            </a:r>
            <a:r>
              <a:rPr lang="en-US" dirty="0" err="1" smtClean="0"/>
              <a:t>unsharp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masking, and            is a blurred version of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Sharpening Filters: </a:t>
            </a:r>
            <a:r>
              <a:rPr lang="en-US" dirty="0" err="1">
                <a:solidFill>
                  <a:schemeClr val="accent2"/>
                </a:solidFill>
              </a:rPr>
              <a:t>Unsharp</a:t>
            </a:r>
            <a:r>
              <a:rPr lang="en-US" dirty="0">
                <a:solidFill>
                  <a:schemeClr val="accent2"/>
                </a:solidFill>
              </a:rPr>
              <a:t> Masking</a:t>
            </a:r>
          </a:p>
        </p:txBody>
      </p:sp>
      <p:sp>
        <p:nvSpPr>
          <p:cNvPr id="3747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38200" y="1752600"/>
            <a:ext cx="7772400" cy="4114800"/>
          </a:xfrm>
        </p:spPr>
        <p:txBody>
          <a:bodyPr/>
          <a:lstStyle/>
          <a:p>
            <a:r>
              <a:rPr lang="en-US" dirty="0"/>
              <a:t>Obtain a sharp image by subtracting a </a:t>
            </a:r>
            <a:r>
              <a:rPr lang="en-US" dirty="0" err="1"/>
              <a:t>lowpass</a:t>
            </a:r>
            <a:r>
              <a:rPr lang="en-US" dirty="0"/>
              <a:t> filtered image from the original image: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747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2590800"/>
            <a:ext cx="4876800" cy="6365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</p:pic>
      <p:pic>
        <p:nvPicPr>
          <p:cNvPr id="374791" name="Picture 7" descr="tut_usm_text-ori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4876800"/>
            <a:ext cx="2133600" cy="682625"/>
          </a:xfrm>
          <a:prstGeom prst="rect">
            <a:avLst/>
          </a:prstGeom>
          <a:noFill/>
        </p:spPr>
      </p:pic>
      <p:pic>
        <p:nvPicPr>
          <p:cNvPr id="374792" name="Picture 8" descr="tut_usm_text-blu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52800" y="4876800"/>
            <a:ext cx="2133600" cy="682625"/>
          </a:xfrm>
          <a:prstGeom prst="rect">
            <a:avLst/>
          </a:prstGeom>
          <a:noFill/>
        </p:spPr>
      </p:pic>
      <p:pic>
        <p:nvPicPr>
          <p:cNvPr id="374793" name="Picture 9" descr="tut_usm_text-mask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72200" y="4876800"/>
            <a:ext cx="2133600" cy="682625"/>
          </a:xfrm>
          <a:prstGeom prst="rect">
            <a:avLst/>
          </a:prstGeom>
          <a:noFill/>
        </p:spPr>
      </p:pic>
      <p:sp>
        <p:nvSpPr>
          <p:cNvPr id="374794" name="Text Box 10"/>
          <p:cNvSpPr txBox="1">
            <a:spLocks noChangeArrowheads="1"/>
          </p:cNvSpPr>
          <p:nvPr/>
        </p:nvSpPr>
        <p:spPr bwMode="auto">
          <a:xfrm>
            <a:off x="2955925" y="4721225"/>
            <a:ext cx="354013" cy="701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4000" b="1"/>
              <a:t>-</a:t>
            </a:r>
          </a:p>
        </p:txBody>
      </p:sp>
      <p:sp>
        <p:nvSpPr>
          <p:cNvPr id="374795" name="Text Box 11"/>
          <p:cNvSpPr txBox="1">
            <a:spLocks noChangeArrowheads="1"/>
          </p:cNvSpPr>
          <p:nvPr/>
        </p:nvSpPr>
        <p:spPr bwMode="auto">
          <a:xfrm>
            <a:off x="5638800" y="4800600"/>
            <a:ext cx="473075" cy="701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4000" b="1"/>
              <a:t>=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32766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a=</a:t>
            </a:r>
            <a:r>
              <a:rPr lang="en-US" b="1" dirty="0" err="1" smtClean="0"/>
              <a:t>imread</a:t>
            </a:r>
            <a:r>
              <a:rPr lang="en-US" b="1" dirty="0" smtClean="0"/>
              <a:t>('cameraman.tif');</a:t>
            </a:r>
          </a:p>
          <a:p>
            <a:r>
              <a:rPr lang="en-US" b="1" dirty="0" smtClean="0"/>
              <a:t>h=</a:t>
            </a:r>
            <a:r>
              <a:rPr lang="en-US" b="1" dirty="0" err="1" smtClean="0"/>
              <a:t>fspecial</a:t>
            </a:r>
            <a:r>
              <a:rPr lang="en-US" b="1" dirty="0" smtClean="0"/>
              <a:t>('</a:t>
            </a:r>
            <a:r>
              <a:rPr lang="en-US" b="1" dirty="0" err="1" smtClean="0"/>
              <a:t>unsharp</a:t>
            </a:r>
            <a:r>
              <a:rPr lang="en-US" b="1" dirty="0" smtClean="0"/>
              <a:t>');</a:t>
            </a:r>
          </a:p>
          <a:p>
            <a:r>
              <a:rPr lang="en-US" b="1" dirty="0" smtClean="0"/>
              <a:t>b=</a:t>
            </a:r>
            <a:r>
              <a:rPr lang="en-US" b="1" dirty="0" err="1" smtClean="0"/>
              <a:t>imfilter</a:t>
            </a:r>
            <a:r>
              <a:rPr lang="en-US" b="1" dirty="0" smtClean="0"/>
              <a:t>(</a:t>
            </a:r>
            <a:r>
              <a:rPr lang="en-US" b="1" dirty="0" err="1" smtClean="0"/>
              <a:t>a,h</a:t>
            </a:r>
            <a:r>
              <a:rPr lang="en-US" b="1" dirty="0" smtClean="0"/>
              <a:t>);</a:t>
            </a:r>
          </a:p>
          <a:p>
            <a:r>
              <a:rPr lang="en-US" b="1" dirty="0" err="1" smtClean="0"/>
              <a:t>imshow</a:t>
            </a:r>
            <a:r>
              <a:rPr lang="en-US" b="1" dirty="0" smtClean="0"/>
              <a:t>(a);</a:t>
            </a:r>
          </a:p>
          <a:p>
            <a:r>
              <a:rPr lang="en-US" b="1" dirty="0" err="1" smtClean="0"/>
              <a:t>figure,imshow</a:t>
            </a:r>
            <a:r>
              <a:rPr lang="en-US" b="1" dirty="0" smtClean="0"/>
              <a:t>(b);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800" y="59436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7"/>
              </a:rPr>
              <a:t>'average‘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7"/>
              </a:rPr>
              <a:t>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hlinkClick r:id="rId7"/>
              </a:rPr>
              <a:t>gaussian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7"/>
              </a:rPr>
              <a:t>‘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7"/>
              </a:rPr>
              <a:t>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hlinkClick r:id="rId7"/>
              </a:rPr>
              <a:t>laplacian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7"/>
              </a:rPr>
              <a:t>‘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7"/>
              </a:rPr>
              <a:t>‘disk‘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7"/>
              </a:rPr>
              <a:t>'motion‘,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hlinkClick r:id="rId7"/>
              </a:rPr>
              <a:t>sobel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7"/>
              </a:rPr>
              <a:t>‘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hlinkClick r:id="rId7"/>
              </a:rPr>
              <a:t>unsharp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7"/>
              </a:rPr>
              <a:t>'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6600" dirty="0" smtClean="0"/>
          </a:p>
          <a:p>
            <a:pPr algn="ctr">
              <a:buNone/>
            </a:pPr>
            <a:r>
              <a:rPr lang="en-US" sz="6600" dirty="0" smtClean="0"/>
              <a:t>Thank You</a:t>
            </a:r>
            <a:endParaRPr lang="en-US" sz="6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1854</TotalTime>
  <Words>919</Words>
  <Application>Microsoft Office PowerPoint</Application>
  <PresentationFormat>On-screen Show (4:3)</PresentationFormat>
  <Paragraphs>216</Paragraphs>
  <Slides>24</Slides>
  <Notes>18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Oriel</vt:lpstr>
      <vt:lpstr>Equation</vt:lpstr>
      <vt:lpstr>Slide 1</vt:lpstr>
      <vt:lpstr>filter</vt:lpstr>
      <vt:lpstr>Spatial filtering</vt:lpstr>
      <vt:lpstr>Linear filtering</vt:lpstr>
      <vt:lpstr>Slide 5</vt:lpstr>
      <vt:lpstr>Slide 6</vt:lpstr>
      <vt:lpstr>Slide 7</vt:lpstr>
      <vt:lpstr>Slide 8</vt:lpstr>
      <vt:lpstr>TYPES OF FILTERS</vt:lpstr>
      <vt:lpstr>TYPES OF FILTERS</vt:lpstr>
      <vt:lpstr>Smoothing Spatial Filters</vt:lpstr>
      <vt:lpstr>Average Smoothing Filters</vt:lpstr>
      <vt:lpstr>Two 3x3 Smoothing Filters</vt:lpstr>
      <vt:lpstr>Slide 14</vt:lpstr>
      <vt:lpstr>Slide 15</vt:lpstr>
      <vt:lpstr>Slide 16</vt:lpstr>
      <vt:lpstr>Slide 17</vt:lpstr>
      <vt:lpstr>Smoothing Filters: Median Filtering </vt:lpstr>
      <vt:lpstr>Smoothing Filters: Median Filtering </vt:lpstr>
      <vt:lpstr>TYPES OF FILTERS</vt:lpstr>
      <vt:lpstr>Sharpening Spatial Filters</vt:lpstr>
      <vt:lpstr>Unsharp masking</vt:lpstr>
      <vt:lpstr>Sharpening Filters: Unsharp Masking</vt:lpstr>
      <vt:lpstr>Slide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Filtering</dc:title>
  <dc:creator>Sruthy</dc:creator>
  <cp:lastModifiedBy>Admin</cp:lastModifiedBy>
  <cp:revision>179</cp:revision>
  <dcterms:created xsi:type="dcterms:W3CDTF">2011-02-22T10:40:21Z</dcterms:created>
  <dcterms:modified xsi:type="dcterms:W3CDTF">2025-07-28T06:54:07Z</dcterms:modified>
</cp:coreProperties>
</file>