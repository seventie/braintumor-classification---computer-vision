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6"/>
  </p:notesMasterIdLst>
  <p:sldIdLst>
    <p:sldId id="256" r:id="rId2"/>
    <p:sldId id="258" r:id="rId3"/>
    <p:sldId id="259" r:id="rId4"/>
    <p:sldId id="261" r:id="rId5"/>
    <p:sldId id="257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35"/>
    <p:sldId id="291" r:id="rId36"/>
    <p:sldId id="292" r:id="rId37"/>
    <p:sldId id="293" r:id="rId38"/>
    <p:sldId id="295" r:id="rId39"/>
    <p:sldId id="296" r:id="rId40"/>
    <p:sldId id="297" r:id="rId41"/>
    <p:sldId id="299" r:id="rId42"/>
    <p:sldId id="301" r:id="rId43"/>
    <p:sldId id="313" r:id="rId44"/>
    <p:sldId id="314" r:id="rId45"/>
    <p:sldId id="304" r:id="rId46"/>
    <p:sldId id="305" r:id="rId47"/>
    <p:sldId id="306" r:id="rId48"/>
    <p:sldId id="307" r:id="rId49"/>
    <p:sldId id="317" r:id="rId50"/>
    <p:sldId id="315" r:id="rId51"/>
    <p:sldId id="308" r:id="rId52"/>
    <p:sldId id="316" r:id="rId53"/>
    <p:sldId id="311" r:id="rId54"/>
    <p:sldId id="289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6F3FC-8B07-42F1-A0E6-120B42220CB4}" type="datetimeFigureOut">
              <a:rPr lang="en-US" smtClean="0"/>
              <a:pPr/>
              <a:t>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3A5A7-0AEA-48E6-978D-81E1F135E66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ext Box 1"/>
          <p:cNvSpPr txBox="1">
            <a:spLocks noChangeArrowheads="1"/>
          </p:cNvSpPr>
          <p:nvPr/>
        </p:nvSpPr>
        <p:spPr bwMode="auto">
          <a:xfrm>
            <a:off x="1371600" y="755650"/>
            <a:ext cx="5029200" cy="37719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1169988" y="5086350"/>
            <a:ext cx="5218112" cy="41021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088984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1"/>
          <p:cNvSpPr txBox="1">
            <a:spLocks noChangeArrowheads="1"/>
          </p:cNvSpPr>
          <p:nvPr/>
        </p:nvSpPr>
        <p:spPr bwMode="auto">
          <a:xfrm>
            <a:off x="1311275" y="1027113"/>
            <a:ext cx="4932363" cy="3698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1169988" y="5086350"/>
            <a:ext cx="5218112" cy="4102100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903382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1"/>
          <p:cNvSpPr txBox="1">
            <a:spLocks noChangeArrowheads="1"/>
          </p:cNvSpPr>
          <p:nvPr/>
        </p:nvSpPr>
        <p:spPr bwMode="auto">
          <a:xfrm>
            <a:off x="1311275" y="1027113"/>
            <a:ext cx="4932363" cy="3698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1169988" y="5086350"/>
            <a:ext cx="5218112" cy="4102100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903382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1"/>
          <p:cNvSpPr txBox="1">
            <a:spLocks noChangeArrowheads="1"/>
          </p:cNvSpPr>
          <p:nvPr/>
        </p:nvSpPr>
        <p:spPr bwMode="auto">
          <a:xfrm>
            <a:off x="1311275" y="1027113"/>
            <a:ext cx="4932363" cy="3698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1169988" y="5086350"/>
            <a:ext cx="5218112" cy="4102100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903382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ext Box 1"/>
          <p:cNvSpPr txBox="1">
            <a:spLocks noChangeArrowheads="1"/>
          </p:cNvSpPr>
          <p:nvPr/>
        </p:nvSpPr>
        <p:spPr bwMode="auto">
          <a:xfrm>
            <a:off x="1311275" y="1027113"/>
            <a:ext cx="4932363" cy="3698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3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1169988" y="5086350"/>
            <a:ext cx="5218112" cy="4102100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809371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1311275" y="1027113"/>
            <a:ext cx="4932363" cy="3698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1169988" y="5086350"/>
            <a:ext cx="5218112" cy="4102100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333582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ext Box 1"/>
          <p:cNvSpPr txBox="1">
            <a:spLocks noChangeArrowheads="1"/>
          </p:cNvSpPr>
          <p:nvPr/>
        </p:nvSpPr>
        <p:spPr bwMode="auto">
          <a:xfrm>
            <a:off x="1085850" y="755650"/>
            <a:ext cx="5602288" cy="377031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8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1169988" y="5086350"/>
            <a:ext cx="5218112" cy="4102100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835397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ext Box 1"/>
          <p:cNvSpPr txBox="1">
            <a:spLocks noChangeArrowheads="1"/>
          </p:cNvSpPr>
          <p:nvPr/>
        </p:nvSpPr>
        <p:spPr bwMode="auto">
          <a:xfrm>
            <a:off x="1085850" y="754063"/>
            <a:ext cx="5602288" cy="37719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5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1169988" y="5086350"/>
            <a:ext cx="5218112" cy="4102100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590748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098A-5326-4FD5-A105-507DB66F8617}" type="datetime1">
              <a:rPr lang="en-US" smtClean="0"/>
              <a:t>1/24/2025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Dr.S.Padmavathi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0CC41-5244-46A9-839F-C91F02B0F996}" type="datetime1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Dr.S.Padmavathi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D952D-BD1A-483F-B801-AD6BA23997AC}" type="datetime1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smtClean="0"/>
              <a:t>Dr.S.Padmavathi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DA206-0F76-4FED-A1F5-DCD9EB4F74A7}" type="datetime1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Dr.S.Padmavathi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7097-9B54-4A6F-935A-58B4C60FEC10}" type="datetime1">
              <a:rPr lang="en-US" smtClean="0"/>
              <a:t>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Dr.S.Padmavathi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34F8-9732-4835-825F-D7782335F15C}" type="datetime1">
              <a:rPr lang="en-US" smtClean="0"/>
              <a:t>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Dr.S.Padmavathi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9890-29B3-4B11-AE13-22F217529954}" type="datetime1">
              <a:rPr lang="en-US" smtClean="0"/>
              <a:t>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Dr.S.Padmavathi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3ED1E-3A5A-4C40-8BCD-AD555FAC4ACC}" type="datetime1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Dr.S.Padmavathi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0D861-03CA-4E54-93E6-CAA5DA04E771}" type="datetime1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smtClean="0"/>
              <a:t>Dr.S.Padmavathi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7C4EA-301B-4FB0-BBC5-6AB74E862778}" type="datetime1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Dr.S.Padmavathi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154CA-8B88-4D7A-A1E0-7AC3C269DA15}" type="datetime1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Dr.S.Padmavathi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3E1E06A-28F7-40B5-9359-A245C3B87FD2}" type="datetime1">
              <a:rPr lang="en-US" smtClean="0"/>
              <a:t>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Dr.S.Padmavathi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eg"/><Relationship Id="rId4" Type="http://schemas.openxmlformats.org/officeDocument/2006/relationships/image" Target="../media/image38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Photometric image formation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/>
          </p:nvPr>
        </p:nvSpPr>
        <p:spPr>
          <a:xfrm>
            <a:off x="2031574" y="285151"/>
            <a:ext cx="5521540" cy="1088754"/>
          </a:xfrm>
          <a:ln/>
        </p:spPr>
        <p:txBody>
          <a:bodyPr vert="horz" lIns="90138" tIns="46702" rIns="90138" bIns="46702" rtlCol="0" anchor="ctr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  <a:tab pos="406131" algn="l"/>
                <a:tab pos="813702" algn="l"/>
                <a:tab pos="1221273" algn="l"/>
                <a:tab pos="1628844" algn="l"/>
                <a:tab pos="2036415" algn="l"/>
                <a:tab pos="2443986" algn="l"/>
                <a:tab pos="2851556" algn="l"/>
                <a:tab pos="3259128" algn="l"/>
                <a:tab pos="3666698" algn="l"/>
                <a:tab pos="4074270" algn="l"/>
                <a:tab pos="4481840" algn="l"/>
                <a:tab pos="4889412" algn="l"/>
                <a:tab pos="5296982" algn="l"/>
                <a:tab pos="5704553" algn="l"/>
                <a:tab pos="6112124" algn="l"/>
                <a:tab pos="6519695" algn="l"/>
                <a:tab pos="6927266" algn="l"/>
                <a:tab pos="7334837" algn="l"/>
                <a:tab pos="7742408" algn="l"/>
                <a:tab pos="8149979" algn="l"/>
              </a:tabLst>
            </a:pPr>
            <a:r>
              <a:rPr lang="en-US" sz="36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Photometric image formation</a:t>
            </a:r>
            <a:endParaRPr lang="en-GB" altLang="en-US" sz="3266" dirty="0">
              <a:solidFill>
                <a:srgbClr val="00B05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-1182844" y="1424311"/>
            <a:ext cx="6858721" cy="1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33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61275" y="1424312"/>
            <a:ext cx="3657264" cy="3809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5127179" y="1769947"/>
            <a:ext cx="2874182" cy="392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427038" indent="-322263">
              <a:tabLst>
                <a:tab pos="427038" algn="l"/>
                <a:tab pos="874713" algn="l"/>
                <a:tab pos="1323975" algn="l"/>
                <a:tab pos="1773238" algn="l"/>
                <a:tab pos="2222500" algn="l"/>
                <a:tab pos="2671763" algn="l"/>
                <a:tab pos="3121025" algn="l"/>
                <a:tab pos="3570288" algn="l"/>
                <a:tab pos="4019550" algn="l"/>
                <a:tab pos="4468813" algn="l"/>
                <a:tab pos="4918075" algn="l"/>
                <a:tab pos="5367338" algn="l"/>
                <a:tab pos="5816600" algn="l"/>
                <a:tab pos="6265863" algn="l"/>
                <a:tab pos="6715125" algn="l"/>
                <a:tab pos="7164388" algn="l"/>
                <a:tab pos="7613650" algn="l"/>
                <a:tab pos="8062913" algn="l"/>
                <a:tab pos="8512175" algn="l"/>
                <a:tab pos="8961438" algn="l"/>
                <a:tab pos="94107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ejaVu LGC Sans" charset="0"/>
              </a:defRPr>
            </a:lvl1pPr>
            <a:lvl2pPr marL="858838" indent="-285750">
              <a:tabLst>
                <a:tab pos="427038" algn="l"/>
                <a:tab pos="874713" algn="l"/>
                <a:tab pos="1323975" algn="l"/>
                <a:tab pos="1773238" algn="l"/>
                <a:tab pos="2222500" algn="l"/>
                <a:tab pos="2671763" algn="l"/>
                <a:tab pos="3121025" algn="l"/>
                <a:tab pos="3570288" algn="l"/>
                <a:tab pos="4019550" algn="l"/>
                <a:tab pos="4468813" algn="l"/>
                <a:tab pos="4918075" algn="l"/>
                <a:tab pos="5367338" algn="l"/>
                <a:tab pos="5816600" algn="l"/>
                <a:tab pos="6265863" algn="l"/>
                <a:tab pos="6715125" algn="l"/>
                <a:tab pos="7164388" algn="l"/>
                <a:tab pos="7613650" algn="l"/>
                <a:tab pos="8062913" algn="l"/>
                <a:tab pos="8512175" algn="l"/>
                <a:tab pos="8961438" algn="l"/>
                <a:tab pos="94107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ejaVu LGC Sans" charset="0"/>
              </a:defRPr>
            </a:lvl2pPr>
            <a:lvl3pPr>
              <a:tabLst>
                <a:tab pos="427038" algn="l"/>
                <a:tab pos="874713" algn="l"/>
                <a:tab pos="1323975" algn="l"/>
                <a:tab pos="1773238" algn="l"/>
                <a:tab pos="2222500" algn="l"/>
                <a:tab pos="2671763" algn="l"/>
                <a:tab pos="3121025" algn="l"/>
                <a:tab pos="3570288" algn="l"/>
                <a:tab pos="4019550" algn="l"/>
                <a:tab pos="4468813" algn="l"/>
                <a:tab pos="4918075" algn="l"/>
                <a:tab pos="5367338" algn="l"/>
                <a:tab pos="5816600" algn="l"/>
                <a:tab pos="6265863" algn="l"/>
                <a:tab pos="6715125" algn="l"/>
                <a:tab pos="7164388" algn="l"/>
                <a:tab pos="7613650" algn="l"/>
                <a:tab pos="8062913" algn="l"/>
                <a:tab pos="8512175" algn="l"/>
                <a:tab pos="8961438" algn="l"/>
                <a:tab pos="94107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ejaVu LGC Sans" charset="0"/>
              </a:defRPr>
            </a:lvl3pPr>
            <a:lvl4pPr>
              <a:tabLst>
                <a:tab pos="427038" algn="l"/>
                <a:tab pos="874713" algn="l"/>
                <a:tab pos="1323975" algn="l"/>
                <a:tab pos="1773238" algn="l"/>
                <a:tab pos="2222500" algn="l"/>
                <a:tab pos="2671763" algn="l"/>
                <a:tab pos="3121025" algn="l"/>
                <a:tab pos="3570288" algn="l"/>
                <a:tab pos="4019550" algn="l"/>
                <a:tab pos="4468813" algn="l"/>
                <a:tab pos="4918075" algn="l"/>
                <a:tab pos="5367338" algn="l"/>
                <a:tab pos="5816600" algn="l"/>
                <a:tab pos="6265863" algn="l"/>
                <a:tab pos="6715125" algn="l"/>
                <a:tab pos="7164388" algn="l"/>
                <a:tab pos="7613650" algn="l"/>
                <a:tab pos="8062913" algn="l"/>
                <a:tab pos="8512175" algn="l"/>
                <a:tab pos="8961438" algn="l"/>
                <a:tab pos="94107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ejaVu LGC Sans" charset="0"/>
              </a:defRPr>
            </a:lvl4pPr>
            <a:lvl5pPr>
              <a:tabLst>
                <a:tab pos="427038" algn="l"/>
                <a:tab pos="874713" algn="l"/>
                <a:tab pos="1323975" algn="l"/>
                <a:tab pos="1773238" algn="l"/>
                <a:tab pos="2222500" algn="l"/>
                <a:tab pos="2671763" algn="l"/>
                <a:tab pos="3121025" algn="l"/>
                <a:tab pos="3570288" algn="l"/>
                <a:tab pos="4019550" algn="l"/>
                <a:tab pos="4468813" algn="l"/>
                <a:tab pos="4918075" algn="l"/>
                <a:tab pos="5367338" algn="l"/>
                <a:tab pos="5816600" algn="l"/>
                <a:tab pos="6265863" algn="l"/>
                <a:tab pos="6715125" algn="l"/>
                <a:tab pos="7164388" algn="l"/>
                <a:tab pos="7613650" algn="l"/>
                <a:tab pos="8062913" algn="l"/>
                <a:tab pos="8512175" algn="l"/>
                <a:tab pos="8961438" algn="l"/>
                <a:tab pos="94107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ejaVu LGC Sans" charset="0"/>
              </a:defRPr>
            </a:lvl5pPr>
            <a:lvl6pPr marL="1531938" indent="-214313" defTabSz="449263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427038" algn="l"/>
                <a:tab pos="874713" algn="l"/>
                <a:tab pos="1323975" algn="l"/>
                <a:tab pos="1773238" algn="l"/>
                <a:tab pos="2222500" algn="l"/>
                <a:tab pos="2671763" algn="l"/>
                <a:tab pos="3121025" algn="l"/>
                <a:tab pos="3570288" algn="l"/>
                <a:tab pos="4019550" algn="l"/>
                <a:tab pos="4468813" algn="l"/>
                <a:tab pos="4918075" algn="l"/>
                <a:tab pos="5367338" algn="l"/>
                <a:tab pos="5816600" algn="l"/>
                <a:tab pos="6265863" algn="l"/>
                <a:tab pos="6715125" algn="l"/>
                <a:tab pos="7164388" algn="l"/>
                <a:tab pos="7613650" algn="l"/>
                <a:tab pos="8062913" algn="l"/>
                <a:tab pos="8512175" algn="l"/>
                <a:tab pos="8961438" algn="l"/>
                <a:tab pos="94107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ejaVu LGC Sans" charset="0"/>
              </a:defRPr>
            </a:lvl6pPr>
            <a:lvl7pPr marL="1989138" indent="-214313" defTabSz="449263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427038" algn="l"/>
                <a:tab pos="874713" algn="l"/>
                <a:tab pos="1323975" algn="l"/>
                <a:tab pos="1773238" algn="l"/>
                <a:tab pos="2222500" algn="l"/>
                <a:tab pos="2671763" algn="l"/>
                <a:tab pos="3121025" algn="l"/>
                <a:tab pos="3570288" algn="l"/>
                <a:tab pos="4019550" algn="l"/>
                <a:tab pos="4468813" algn="l"/>
                <a:tab pos="4918075" algn="l"/>
                <a:tab pos="5367338" algn="l"/>
                <a:tab pos="5816600" algn="l"/>
                <a:tab pos="6265863" algn="l"/>
                <a:tab pos="6715125" algn="l"/>
                <a:tab pos="7164388" algn="l"/>
                <a:tab pos="7613650" algn="l"/>
                <a:tab pos="8062913" algn="l"/>
                <a:tab pos="8512175" algn="l"/>
                <a:tab pos="8961438" algn="l"/>
                <a:tab pos="94107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ejaVu LGC Sans" charset="0"/>
              </a:defRPr>
            </a:lvl7pPr>
            <a:lvl8pPr marL="2446338" indent="-214313" defTabSz="449263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427038" algn="l"/>
                <a:tab pos="874713" algn="l"/>
                <a:tab pos="1323975" algn="l"/>
                <a:tab pos="1773238" algn="l"/>
                <a:tab pos="2222500" algn="l"/>
                <a:tab pos="2671763" algn="l"/>
                <a:tab pos="3121025" algn="l"/>
                <a:tab pos="3570288" algn="l"/>
                <a:tab pos="4019550" algn="l"/>
                <a:tab pos="4468813" algn="l"/>
                <a:tab pos="4918075" algn="l"/>
                <a:tab pos="5367338" algn="l"/>
                <a:tab pos="5816600" algn="l"/>
                <a:tab pos="6265863" algn="l"/>
                <a:tab pos="6715125" algn="l"/>
                <a:tab pos="7164388" algn="l"/>
                <a:tab pos="7613650" algn="l"/>
                <a:tab pos="8062913" algn="l"/>
                <a:tab pos="8512175" algn="l"/>
                <a:tab pos="8961438" algn="l"/>
                <a:tab pos="94107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ejaVu LGC Sans" charset="0"/>
              </a:defRPr>
            </a:lvl8pPr>
            <a:lvl9pPr marL="2903538" indent="-214313" defTabSz="449263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427038" algn="l"/>
                <a:tab pos="874713" algn="l"/>
                <a:tab pos="1323975" algn="l"/>
                <a:tab pos="1773238" algn="l"/>
                <a:tab pos="2222500" algn="l"/>
                <a:tab pos="2671763" algn="l"/>
                <a:tab pos="3121025" algn="l"/>
                <a:tab pos="3570288" algn="l"/>
                <a:tab pos="4019550" algn="l"/>
                <a:tab pos="4468813" algn="l"/>
                <a:tab pos="4918075" algn="l"/>
                <a:tab pos="5367338" algn="l"/>
                <a:tab pos="5816600" algn="l"/>
                <a:tab pos="6265863" algn="l"/>
                <a:tab pos="6715125" algn="l"/>
                <a:tab pos="7164388" algn="l"/>
                <a:tab pos="7613650" algn="l"/>
                <a:tab pos="8062913" algn="l"/>
                <a:tab pos="8512175" algn="l"/>
                <a:tab pos="8961438" algn="l"/>
                <a:tab pos="94107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ejaVu LGC Sans" charset="0"/>
              </a:defRPr>
            </a:lvl9pPr>
          </a:lstStyle>
          <a:p>
            <a:pPr>
              <a:spcBef>
                <a:spcPts val="635"/>
              </a:spcBef>
              <a:buSzPct val="100000"/>
            </a:pPr>
            <a:r>
              <a:rPr lang="en-GB" altLang="en-US" sz="2540">
                <a:ea typeface="ＭＳ Ｐゴシック" panose="020B0600070205080204" pitchFamily="34" charset="-128"/>
              </a:rPr>
              <a:t>The incident light </a:t>
            </a:r>
          </a:p>
          <a:p>
            <a:pPr>
              <a:spcBef>
                <a:spcPts val="635"/>
              </a:spcBef>
              <a:buSzPct val="100000"/>
              <a:buFont typeface="Times New Roman" panose="02020603050405020304" pitchFamily="18" charset="0"/>
              <a:buChar char="•"/>
            </a:pPr>
            <a:r>
              <a:rPr lang="en-GB" altLang="en-US" sz="2540">
                <a:ea typeface="ＭＳ Ｐゴシック" panose="020B0600070205080204" pitchFamily="34" charset="-128"/>
              </a:rPr>
              <a:t>Position of light source</a:t>
            </a:r>
          </a:p>
          <a:p>
            <a:pPr>
              <a:spcBef>
                <a:spcPts val="635"/>
              </a:spcBef>
              <a:buSzPct val="100000"/>
              <a:buFont typeface="Times New Roman" panose="02020603050405020304" pitchFamily="18" charset="0"/>
              <a:buChar char="•"/>
            </a:pPr>
            <a:r>
              <a:rPr lang="en-GB" altLang="en-US" sz="2540">
                <a:ea typeface="ＭＳ Ｐゴシック" panose="020B0600070205080204" pitchFamily="34" charset="-128"/>
              </a:rPr>
              <a:t>Direction </a:t>
            </a:r>
          </a:p>
          <a:p>
            <a:pPr>
              <a:spcBef>
                <a:spcPts val="635"/>
              </a:spcBef>
              <a:buSzPct val="100000"/>
              <a:buFont typeface="Times New Roman" panose="02020603050405020304" pitchFamily="18" charset="0"/>
              <a:buChar char="•"/>
            </a:pPr>
            <a:r>
              <a:rPr lang="en-GB" altLang="en-US" sz="2540">
                <a:ea typeface="ＭＳ Ｐゴシック" panose="020B0600070205080204" pitchFamily="34" charset="-128"/>
              </a:rPr>
              <a:t>Color </a:t>
            </a:r>
          </a:p>
          <a:p>
            <a:pPr>
              <a:spcBef>
                <a:spcPts val="635"/>
              </a:spcBef>
              <a:buSzPct val="100000"/>
            </a:pPr>
            <a:r>
              <a:rPr lang="en-GB" altLang="en-US" sz="2540">
                <a:ea typeface="ＭＳ Ｐゴシック" panose="020B0600070205080204" pitchFamily="34" charset="-128"/>
              </a:rPr>
              <a:t>The object </a:t>
            </a:r>
          </a:p>
          <a:p>
            <a:pPr>
              <a:spcBef>
                <a:spcPts val="635"/>
              </a:spcBef>
              <a:buSzPct val="100000"/>
              <a:buFont typeface="Times New Roman" panose="02020603050405020304" pitchFamily="18" charset="0"/>
              <a:buChar char="•"/>
            </a:pPr>
            <a:r>
              <a:rPr lang="en-GB" altLang="en-US" sz="2540">
                <a:ea typeface="ＭＳ Ｐゴシック" panose="020B0600070205080204" pitchFamily="34" charset="-128"/>
              </a:rPr>
              <a:t>Reflectance </a:t>
            </a:r>
          </a:p>
          <a:p>
            <a:pPr>
              <a:spcBef>
                <a:spcPts val="635"/>
              </a:spcBef>
              <a:buSzPct val="100000"/>
            </a:pPr>
            <a:r>
              <a:rPr lang="en-GB" altLang="en-US" sz="2540">
                <a:ea typeface="ＭＳ Ｐゴシック" panose="020B0600070205080204" pitchFamily="34" charset="-128"/>
              </a:rPr>
              <a:t>Viewer </a:t>
            </a:r>
          </a:p>
          <a:p>
            <a:pPr>
              <a:spcBef>
                <a:spcPts val="635"/>
              </a:spcBef>
              <a:buSzPct val="100000"/>
              <a:buFont typeface="Times New Roman" panose="02020603050405020304" pitchFamily="18" charset="0"/>
              <a:buChar char="•"/>
            </a:pPr>
            <a:r>
              <a:rPr lang="en-GB" altLang="en-US" sz="2540">
                <a:ea typeface="ＭＳ Ｐゴシック" panose="020B0600070205080204" pitchFamily="34" charset="-128"/>
              </a:rPr>
              <a:t>Position </a:t>
            </a:r>
          </a:p>
          <a:p>
            <a:pPr>
              <a:spcBef>
                <a:spcPts val="635"/>
              </a:spcBef>
              <a:buSzPct val="100000"/>
            </a:pPr>
            <a:r>
              <a:rPr lang="en-GB" altLang="en-US" sz="2540">
                <a:ea typeface="ＭＳ Ｐゴシック" panose="020B0600070205080204" pitchFamily="34" charset="-128"/>
              </a:rPr>
              <a:t> </a:t>
            </a:r>
          </a:p>
          <a:p>
            <a:pPr lvl="1">
              <a:spcBef>
                <a:spcPts val="635"/>
              </a:spcBef>
              <a:buSzPct val="100000"/>
            </a:pPr>
            <a:endParaRPr lang="en-GB" altLang="en-US" sz="254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722921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533400" y="277950"/>
            <a:ext cx="7924800" cy="743118"/>
          </a:xfrm>
          <a:ln/>
        </p:spPr>
        <p:txBody>
          <a:bodyPr>
            <a:normAutofit/>
          </a:bodyPr>
          <a:lstStyle/>
          <a:p>
            <a:pPr>
              <a:lnSpc>
                <a:spcPct val="93000"/>
              </a:lnSpc>
              <a:tabLst>
                <a:tab pos="0" algn="l"/>
                <a:tab pos="406131" algn="l"/>
                <a:tab pos="813702" algn="l"/>
                <a:tab pos="1221273" algn="l"/>
                <a:tab pos="1628844" algn="l"/>
                <a:tab pos="2036415" algn="l"/>
                <a:tab pos="2443986" algn="l"/>
                <a:tab pos="2851556" algn="l"/>
                <a:tab pos="3259128" algn="l"/>
                <a:tab pos="3666698" algn="l"/>
                <a:tab pos="4074270" algn="l"/>
                <a:tab pos="4481840" algn="l"/>
                <a:tab pos="4889412" algn="l"/>
                <a:tab pos="5296982" algn="l"/>
                <a:tab pos="5704553" algn="l"/>
                <a:tab pos="6112124" algn="l"/>
                <a:tab pos="6519695" algn="l"/>
                <a:tab pos="6927266" algn="l"/>
                <a:tab pos="7334837" algn="l"/>
                <a:tab pos="7742408" algn="l"/>
                <a:tab pos="8149979" algn="l"/>
              </a:tabLst>
            </a:pPr>
            <a:r>
              <a:rPr lang="en-GB" altLang="en-US" sz="3600" b="1" dirty="0">
                <a:solidFill>
                  <a:srgbClr val="00B050"/>
                </a:solidFill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Overview 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457200" y="1216931"/>
            <a:ext cx="8305800" cy="3050270"/>
          </a:xfrm>
          <a:ln/>
        </p:spPr>
        <p:txBody>
          <a:bodyPr>
            <a:normAutofit/>
          </a:bodyPr>
          <a:lstStyle/>
          <a:p>
            <a:pPr>
              <a:lnSpc>
                <a:spcPct val="93000"/>
              </a:lnSpc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r>
              <a:rPr lang="en-GB" altLang="en-US" sz="28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Illumination (how to calculate the colour)</a:t>
            </a:r>
            <a:r>
              <a:rPr lang="ar-SA" altLang="en-US" sz="28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‏</a:t>
            </a:r>
            <a:endParaRPr lang="en-GB" altLang="en-US" sz="2800" dirty="0"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  <a:p>
            <a:pPr>
              <a:lnSpc>
                <a:spcPct val="93000"/>
              </a:lnSpc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r>
              <a:rPr lang="en-GB" altLang="en-US" sz="28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Shading (how to colour the whole surface)?</a:t>
            </a:r>
          </a:p>
          <a:p>
            <a:pPr>
              <a:lnSpc>
                <a:spcPct val="93000"/>
              </a:lnSpc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r>
              <a:rPr lang="en-GB" altLang="en-US" sz="28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BRDF (how to simulate the reflection of </a:t>
            </a:r>
            <a:r>
              <a:rPr lang="en-GB" altLang="en-US" sz="2800" dirty="0" smtClean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real objects</a:t>
            </a:r>
            <a:r>
              <a:rPr lang="en-GB" altLang="en-US" sz="28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)</a:t>
            </a:r>
            <a:r>
              <a:rPr lang="ar-SA" altLang="en-US" sz="28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‏</a:t>
            </a:r>
            <a:endParaRPr lang="en-GB" altLang="en-US" sz="2800" dirty="0"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819400"/>
            <a:ext cx="3681026" cy="340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0994703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533400" y="277950"/>
            <a:ext cx="7924800" cy="743118"/>
          </a:xfrm>
          <a:ln/>
        </p:spPr>
        <p:txBody>
          <a:bodyPr>
            <a:normAutofit/>
          </a:bodyPr>
          <a:lstStyle/>
          <a:p>
            <a:pPr>
              <a:lnSpc>
                <a:spcPct val="93000"/>
              </a:lnSpc>
              <a:tabLst>
                <a:tab pos="0" algn="l"/>
                <a:tab pos="406131" algn="l"/>
                <a:tab pos="813702" algn="l"/>
                <a:tab pos="1221273" algn="l"/>
                <a:tab pos="1628844" algn="l"/>
                <a:tab pos="2036415" algn="l"/>
                <a:tab pos="2443986" algn="l"/>
                <a:tab pos="2851556" algn="l"/>
                <a:tab pos="3259128" algn="l"/>
                <a:tab pos="3666698" algn="l"/>
                <a:tab pos="4074270" algn="l"/>
                <a:tab pos="4481840" algn="l"/>
                <a:tab pos="4889412" algn="l"/>
                <a:tab pos="5296982" algn="l"/>
                <a:tab pos="5704553" algn="l"/>
                <a:tab pos="6112124" algn="l"/>
                <a:tab pos="6519695" algn="l"/>
                <a:tab pos="6927266" algn="l"/>
                <a:tab pos="7334837" algn="l"/>
                <a:tab pos="7742408" algn="l"/>
                <a:tab pos="8149979" algn="l"/>
              </a:tabLst>
            </a:pPr>
            <a:r>
              <a:rPr lang="en-GB" altLang="en-US" sz="3600" b="1" dirty="0">
                <a:solidFill>
                  <a:srgbClr val="00B050"/>
                </a:solidFill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Overview 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457200" y="1216931"/>
            <a:ext cx="8305800" cy="3050270"/>
          </a:xfrm>
          <a:ln/>
        </p:spPr>
        <p:txBody>
          <a:bodyPr>
            <a:normAutofit/>
          </a:bodyPr>
          <a:lstStyle/>
          <a:p>
            <a:pPr>
              <a:lnSpc>
                <a:spcPct val="93000"/>
              </a:lnSpc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r>
              <a:rPr lang="en-GB" altLang="en-US" sz="2800" b="1" dirty="0">
                <a:solidFill>
                  <a:srgbClr val="FF0000"/>
                </a:solidFill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Illumination (how to calculate the colour)</a:t>
            </a:r>
            <a:r>
              <a:rPr lang="ar-SA" altLang="en-US" sz="2800" b="1" dirty="0">
                <a:solidFill>
                  <a:srgbClr val="FF0000"/>
                </a:solidFill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‏</a:t>
            </a:r>
            <a:endParaRPr lang="en-GB" altLang="en-US" sz="2800" b="1" dirty="0">
              <a:solidFill>
                <a:srgbClr val="FF0000"/>
              </a:solidFill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  <a:p>
            <a:pPr>
              <a:lnSpc>
                <a:spcPct val="93000"/>
              </a:lnSpc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r>
              <a:rPr lang="en-GB" altLang="en-US" sz="28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Shading (how to colour the whole surface)?</a:t>
            </a:r>
          </a:p>
          <a:p>
            <a:pPr>
              <a:lnSpc>
                <a:spcPct val="93000"/>
              </a:lnSpc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r>
              <a:rPr lang="en-GB" altLang="en-US" sz="28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BRDF (how to simulate the reflection of </a:t>
            </a:r>
            <a:r>
              <a:rPr lang="en-GB" altLang="en-US" sz="2800" dirty="0" smtClean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real objects</a:t>
            </a:r>
            <a:r>
              <a:rPr lang="en-GB" altLang="en-US" sz="28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)</a:t>
            </a:r>
            <a:r>
              <a:rPr lang="ar-SA" altLang="en-US" sz="28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‏</a:t>
            </a:r>
            <a:endParaRPr lang="en-GB" altLang="en-US" sz="2800" dirty="0"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819400"/>
            <a:ext cx="3681026" cy="340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0994703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28600"/>
            <a:ext cx="85344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04800"/>
            <a:ext cx="8458199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04800"/>
            <a:ext cx="85344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28600"/>
            <a:ext cx="85344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0"/>
            <a:ext cx="8229600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3200400"/>
            <a:ext cx="8534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04800"/>
            <a:ext cx="8229600" cy="6095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52400"/>
            <a:ext cx="8458200" cy="5943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457200"/>
            <a:ext cx="80010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04800"/>
            <a:ext cx="8458199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533400"/>
            <a:ext cx="78486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04800"/>
            <a:ext cx="83058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8600"/>
            <a:ext cx="82296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04800"/>
            <a:ext cx="82296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52400"/>
            <a:ext cx="86106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8600"/>
            <a:ext cx="84582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04800"/>
            <a:ext cx="83058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81000"/>
            <a:ext cx="8382000" cy="6019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457200"/>
            <a:ext cx="86868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8601"/>
            <a:ext cx="8305799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609600"/>
            <a:ext cx="8382000" cy="571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81000"/>
            <a:ext cx="84582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81000"/>
            <a:ext cx="8305799" cy="5867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81000"/>
            <a:ext cx="8534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04800"/>
            <a:ext cx="8534399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457200"/>
            <a:ext cx="7924800" cy="6019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533400"/>
            <a:ext cx="83058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609600"/>
            <a:ext cx="7239000" cy="5638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81000"/>
            <a:ext cx="83820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81000"/>
            <a:ext cx="85344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533400" y="277950"/>
            <a:ext cx="7924800" cy="743118"/>
          </a:xfrm>
          <a:ln/>
        </p:spPr>
        <p:txBody>
          <a:bodyPr>
            <a:normAutofit/>
          </a:bodyPr>
          <a:lstStyle/>
          <a:p>
            <a:pPr>
              <a:lnSpc>
                <a:spcPct val="93000"/>
              </a:lnSpc>
              <a:tabLst>
                <a:tab pos="0" algn="l"/>
                <a:tab pos="406131" algn="l"/>
                <a:tab pos="813702" algn="l"/>
                <a:tab pos="1221273" algn="l"/>
                <a:tab pos="1628844" algn="l"/>
                <a:tab pos="2036415" algn="l"/>
                <a:tab pos="2443986" algn="l"/>
                <a:tab pos="2851556" algn="l"/>
                <a:tab pos="3259128" algn="l"/>
                <a:tab pos="3666698" algn="l"/>
                <a:tab pos="4074270" algn="l"/>
                <a:tab pos="4481840" algn="l"/>
                <a:tab pos="4889412" algn="l"/>
                <a:tab pos="5296982" algn="l"/>
                <a:tab pos="5704553" algn="l"/>
                <a:tab pos="6112124" algn="l"/>
                <a:tab pos="6519695" algn="l"/>
                <a:tab pos="6927266" algn="l"/>
                <a:tab pos="7334837" algn="l"/>
                <a:tab pos="7742408" algn="l"/>
                <a:tab pos="8149979" algn="l"/>
              </a:tabLst>
            </a:pPr>
            <a:r>
              <a:rPr lang="en-GB" altLang="en-US" sz="3600" b="1" dirty="0">
                <a:solidFill>
                  <a:srgbClr val="00B050"/>
                </a:solidFill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Overview 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457200" y="1216931"/>
            <a:ext cx="8305800" cy="3050270"/>
          </a:xfrm>
          <a:ln/>
        </p:spPr>
        <p:txBody>
          <a:bodyPr>
            <a:normAutofit/>
          </a:bodyPr>
          <a:lstStyle/>
          <a:p>
            <a:pPr>
              <a:lnSpc>
                <a:spcPct val="93000"/>
              </a:lnSpc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r>
              <a:rPr lang="en-GB" altLang="en-US" sz="28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Illumination (how to calculate the colour)</a:t>
            </a:r>
            <a:r>
              <a:rPr lang="ar-SA" altLang="en-US" sz="28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‏</a:t>
            </a:r>
            <a:endParaRPr lang="en-GB" altLang="en-US" sz="2800" dirty="0"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  <a:p>
            <a:pPr>
              <a:lnSpc>
                <a:spcPct val="93000"/>
              </a:lnSpc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r>
              <a:rPr lang="en-GB" altLang="en-US" sz="2800" b="1" dirty="0">
                <a:solidFill>
                  <a:srgbClr val="FF0000"/>
                </a:solidFill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Shading (how to colour the whole surface)?</a:t>
            </a:r>
          </a:p>
          <a:p>
            <a:pPr>
              <a:lnSpc>
                <a:spcPct val="93000"/>
              </a:lnSpc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r>
              <a:rPr lang="en-GB" altLang="en-US" sz="28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BRDF (how to simulate the reflection of </a:t>
            </a:r>
            <a:r>
              <a:rPr lang="en-GB" altLang="en-US" sz="2800" dirty="0" smtClean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real objects</a:t>
            </a:r>
            <a:r>
              <a:rPr lang="en-GB" altLang="en-US" sz="28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)</a:t>
            </a:r>
            <a:r>
              <a:rPr lang="ar-SA" altLang="en-US" sz="28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‏</a:t>
            </a:r>
            <a:endParaRPr lang="en-GB" altLang="en-US" sz="2800" dirty="0"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819400"/>
            <a:ext cx="3681026" cy="340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0994703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7772400" cy="639762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b="1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SURFACE RENDERING: SHADING</a:t>
            </a:r>
            <a:endParaRPr lang="en-US" altLang="ko-KR" sz="2800" b="1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1812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066800"/>
            <a:ext cx="8382000" cy="5562600"/>
          </a:xfrm>
        </p:spPr>
        <p:txBody>
          <a:bodyPr>
            <a:normAutofit/>
          </a:bodyPr>
          <a:lstStyle/>
          <a:p>
            <a:pPr algn="just"/>
            <a:r>
              <a:rPr lang="en-US" altLang="ko-KR" sz="24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Determine a Color for Each Filled Pixel</a:t>
            </a:r>
          </a:p>
          <a:p>
            <a:pPr algn="just"/>
            <a:r>
              <a:rPr lang="en-US" altLang="ko-KR" sz="24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How to Choose a Color for Each Filled Pixel</a:t>
            </a:r>
          </a:p>
          <a:p>
            <a:pPr lvl="1" algn="just"/>
            <a:r>
              <a:rPr lang="en-US" altLang="ko-KR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Each illumination calculation for a ray from the </a:t>
            </a:r>
            <a:r>
              <a:rPr lang="en-US" altLang="ko-KR" dirty="0" smtClean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eye point </a:t>
            </a:r>
            <a:r>
              <a:rPr lang="en-US" altLang="ko-KR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through the view plane provides a radiance sample</a:t>
            </a:r>
          </a:p>
        </p:txBody>
      </p:sp>
      <p:graphicFrame>
        <p:nvGraphicFramePr>
          <p:cNvPr id="1812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4041501073"/>
              </p:ext>
            </p:extLst>
          </p:nvPr>
        </p:nvGraphicFramePr>
        <p:xfrm>
          <a:off x="3352800" y="3352800"/>
          <a:ext cx="3276600" cy="3186113"/>
        </p:xfrm>
        <a:graphic>
          <a:graphicData uri="http://schemas.openxmlformats.org/presentationml/2006/ole">
            <p:oleObj spid="_x0000_s29698" name="Image" r:id="rId3" imgW="3171429" imgH="3380952" progId="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10637439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b="1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Polygon Shading Algorithms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Flat/Constant </a:t>
            </a:r>
            <a:r>
              <a:rPr lang="en-US" altLang="ko-KR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Shading</a:t>
            </a:r>
          </a:p>
          <a:p>
            <a:endParaRPr lang="en-US" altLang="ko-KR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  <a:p>
            <a:r>
              <a:rPr lang="en-US" altLang="ko-KR" dirty="0" err="1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Gouraud</a:t>
            </a:r>
            <a:r>
              <a:rPr lang="en-US" altLang="ko-KR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Shading</a:t>
            </a:r>
          </a:p>
          <a:p>
            <a:endParaRPr lang="en-US" altLang="ko-KR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  <a:p>
            <a:r>
              <a:rPr lang="en-US" altLang="ko-KR" dirty="0" err="1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Phong</a:t>
            </a:r>
            <a:r>
              <a:rPr lang="en-US" altLang="ko-KR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Shading</a:t>
            </a:r>
            <a:endParaRPr lang="ko-KR" altLang="en-US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034803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676400"/>
            <a:ext cx="1993370" cy="2007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533400"/>
            <a:ext cx="7772399" cy="926018"/>
          </a:xfrm>
          <a:ln/>
        </p:spPr>
        <p:txBody>
          <a:bodyPr>
            <a:normAutofit fontScale="90000"/>
          </a:bodyPr>
          <a:lstStyle/>
          <a:p>
            <a:pPr>
              <a:lnSpc>
                <a:spcPct val="93000"/>
              </a:lnSpc>
              <a:tabLst>
                <a:tab pos="0" algn="l"/>
                <a:tab pos="406131" algn="l"/>
                <a:tab pos="813702" algn="l"/>
                <a:tab pos="1221273" algn="l"/>
                <a:tab pos="1628844" algn="l"/>
                <a:tab pos="2036415" algn="l"/>
                <a:tab pos="2443986" algn="l"/>
                <a:tab pos="2851556" algn="l"/>
                <a:tab pos="3259128" algn="l"/>
                <a:tab pos="3666698" algn="l"/>
                <a:tab pos="4074270" algn="l"/>
                <a:tab pos="4481840" algn="l"/>
                <a:tab pos="4889412" algn="l"/>
                <a:tab pos="5296982" algn="l"/>
                <a:tab pos="5704553" algn="l"/>
                <a:tab pos="6112124" algn="l"/>
                <a:tab pos="6519695" algn="l"/>
                <a:tab pos="6927266" algn="l"/>
                <a:tab pos="7334837" algn="l"/>
                <a:tab pos="7742408" algn="l"/>
                <a:tab pos="8149979" algn="l"/>
              </a:tabLst>
            </a:pPr>
            <a:r>
              <a:rPr lang="en-GB" altLang="en-US" sz="3266" b="1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How often do we do the computation of illumination?  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905000"/>
            <a:ext cx="8762999" cy="4495800"/>
          </a:xfrm>
          <a:ln/>
        </p:spPr>
        <p:txBody>
          <a:bodyPr>
            <a:normAutofit/>
          </a:bodyPr>
          <a:lstStyle/>
          <a:p>
            <a:pPr>
              <a:lnSpc>
                <a:spcPct val="93000"/>
              </a:lnSpc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r>
              <a:rPr lang="en-GB" altLang="en-US" sz="22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At all the points on the surface?</a:t>
            </a:r>
          </a:p>
          <a:p>
            <a:pPr>
              <a:lnSpc>
                <a:spcPct val="93000"/>
              </a:lnSpc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r>
              <a:rPr lang="en-GB" altLang="en-US" sz="22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But usually we have </a:t>
            </a:r>
            <a:r>
              <a:rPr lang="en-GB" altLang="en-US" sz="2200" dirty="0" smtClean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normal </a:t>
            </a:r>
            <a:r>
              <a:rPr lang="en-GB" altLang="en-US" sz="22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only at the vertices</a:t>
            </a:r>
          </a:p>
          <a:p>
            <a:pPr>
              <a:lnSpc>
                <a:spcPct val="93000"/>
              </a:lnSpc>
              <a:buNone/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endParaRPr lang="en-GB" altLang="en-US" sz="2200" dirty="0">
              <a:latin typeface="Times New Roman" pitchFamily="18" charset="0"/>
              <a:ea typeface="ＭＳ Ｐゴシック" panose="020B0600070205080204" pitchFamily="34" charset="-128"/>
              <a:cs typeface="Times New Roman" pitchFamily="18" charset="0"/>
            </a:endParaRPr>
          </a:p>
          <a:p>
            <a:pPr>
              <a:lnSpc>
                <a:spcPct val="93000"/>
              </a:lnSpc>
              <a:buNone/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r>
              <a:rPr lang="en-GB" altLang="en-US" sz="2200" dirty="0">
                <a:latin typeface="Times New Roman" pitchFamily="18" charset="0"/>
                <a:cs typeface="Times New Roman" pitchFamily="18" charset="0"/>
              </a:rPr>
              <a:t>Depends on the shading model</a:t>
            </a:r>
          </a:p>
          <a:p>
            <a:pPr>
              <a:lnSpc>
                <a:spcPct val="93000"/>
              </a:lnSpc>
              <a:buNone/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r>
              <a:rPr lang="en-GB" altLang="en-US" sz="2200" dirty="0" smtClean="0">
                <a:latin typeface="Times New Roman" pitchFamily="18" charset="0"/>
                <a:cs typeface="Times New Roman" pitchFamily="18" charset="0"/>
              </a:rPr>
              <a:t>	– </a:t>
            </a:r>
            <a:r>
              <a:rPr lang="en-GB" altLang="en-US" sz="2200" b="1" dirty="0">
                <a:latin typeface="Times New Roman" pitchFamily="18" charset="0"/>
                <a:cs typeface="Times New Roman" pitchFamily="18" charset="0"/>
              </a:rPr>
              <a:t>Flat Shading </a:t>
            </a:r>
            <a:r>
              <a:rPr lang="en-GB" altLang="en-US" sz="2200" dirty="0">
                <a:latin typeface="Times New Roman" pitchFamily="18" charset="0"/>
                <a:cs typeface="Times New Roman" pitchFamily="18" charset="0"/>
              </a:rPr>
              <a:t>(once per polygon)</a:t>
            </a:r>
            <a:r>
              <a:rPr lang="ar-SA" altLang="en-US" sz="2200" dirty="0" smtClean="0">
                <a:latin typeface="Times New Roman" pitchFamily="18" charset="0"/>
                <a:cs typeface="Times New Roman" pitchFamily="18" charset="0"/>
              </a:rPr>
              <a:t>‏</a:t>
            </a:r>
            <a:r>
              <a:rPr lang="en-GB" altLang="en-US" sz="2200" dirty="0" smtClean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 </a:t>
            </a:r>
            <a:r>
              <a:rPr lang="en-GB" altLang="en-US" sz="22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(less computation needed) </a:t>
            </a:r>
          </a:p>
          <a:p>
            <a:pPr>
              <a:lnSpc>
                <a:spcPct val="93000"/>
              </a:lnSpc>
              <a:buNone/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r>
              <a:rPr lang="en-GB" altLang="en-US" sz="2200" dirty="0" smtClean="0">
                <a:latin typeface="Times New Roman" pitchFamily="18" charset="0"/>
                <a:cs typeface="Times New Roman" pitchFamily="18" charset="0"/>
              </a:rPr>
              <a:t>	– </a:t>
            </a:r>
            <a:r>
              <a:rPr lang="en-GB" altLang="en-US" sz="2200" b="1" dirty="0" err="1">
                <a:latin typeface="Times New Roman" pitchFamily="18" charset="0"/>
                <a:cs typeface="Times New Roman" pitchFamily="18" charset="0"/>
              </a:rPr>
              <a:t>Gouraud</a:t>
            </a:r>
            <a:r>
              <a:rPr lang="en-GB" altLang="en-US" sz="2200" b="1" dirty="0">
                <a:latin typeface="Times New Roman" pitchFamily="18" charset="0"/>
                <a:cs typeface="Times New Roman" pitchFamily="18" charset="0"/>
              </a:rPr>
              <a:t> shading </a:t>
            </a:r>
            <a:r>
              <a:rPr lang="en-GB" altLang="en-US" sz="2200" dirty="0">
                <a:latin typeface="Times New Roman" pitchFamily="18" charset="0"/>
                <a:cs typeface="Times New Roman" pitchFamily="18" charset="0"/>
              </a:rPr>
              <a:t>(for all the vert</a:t>
            </a:r>
            <a:r>
              <a:rPr lang="en-GB" altLang="en-US" sz="22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ices </a:t>
            </a:r>
            <a:r>
              <a:rPr lang="en-GB" altLang="en-US" sz="220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GB" altLang="en-US" sz="2200" dirty="0">
                <a:latin typeface="Times New Roman" pitchFamily="18" charset="0"/>
                <a:ea typeface="ＭＳ Ｐゴシック" panose="020B0600070205080204" pitchFamily="34" charset="-128"/>
                <a:cs typeface="Times New Roman" pitchFamily="18" charset="0"/>
              </a:rPr>
              <a:t>f</a:t>
            </a:r>
            <a:r>
              <a:rPr lang="en-GB" altLang="en-US" sz="2200" dirty="0">
                <a:latin typeface="Times New Roman" pitchFamily="18" charset="0"/>
                <a:cs typeface="Times New Roman" pitchFamily="18" charset="0"/>
              </a:rPr>
              <a:t> the polygon)</a:t>
            </a:r>
            <a:r>
              <a:rPr lang="ar-SA" altLang="en-US" sz="2200" dirty="0">
                <a:latin typeface="Times New Roman" pitchFamily="18" charset="0"/>
                <a:cs typeface="Times New Roman" pitchFamily="18" charset="0"/>
              </a:rPr>
              <a:t>‏</a:t>
            </a:r>
            <a:endParaRPr lang="en-GB" alt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3000"/>
              </a:lnSpc>
              <a:buNone/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r>
              <a:rPr lang="en-GB" altLang="en-US" sz="2200" dirty="0" smtClean="0">
                <a:latin typeface="Times New Roman" pitchFamily="18" charset="0"/>
                <a:cs typeface="Times New Roman" pitchFamily="18" charset="0"/>
              </a:rPr>
              <a:t>	– </a:t>
            </a:r>
            <a:r>
              <a:rPr lang="en-GB" altLang="en-US" sz="2200" b="1" dirty="0" err="1">
                <a:latin typeface="Times New Roman" pitchFamily="18" charset="0"/>
                <a:cs typeface="Times New Roman" pitchFamily="18" charset="0"/>
              </a:rPr>
              <a:t>Phong</a:t>
            </a:r>
            <a:r>
              <a:rPr lang="en-GB" altLang="en-US" sz="2200" b="1" dirty="0">
                <a:latin typeface="Times New Roman" pitchFamily="18" charset="0"/>
                <a:cs typeface="Times New Roman" pitchFamily="18" charset="0"/>
              </a:rPr>
              <a:t> Shading</a:t>
            </a:r>
            <a:r>
              <a:rPr lang="en-GB" altLang="en-US" sz="2200" dirty="0">
                <a:latin typeface="Times New Roman" pitchFamily="18" charset="0"/>
                <a:cs typeface="Times New Roman" pitchFamily="18" charset="0"/>
              </a:rPr>
              <a:t> (all the points)</a:t>
            </a:r>
            <a:r>
              <a:rPr lang="ar-SA" altLang="en-US" sz="2200" dirty="0" smtClean="0">
                <a:latin typeface="Times New Roman" pitchFamily="18" charset="0"/>
                <a:cs typeface="Times New Roman" pitchFamily="18" charset="0"/>
              </a:rPr>
              <a:t>‏</a:t>
            </a:r>
            <a:r>
              <a:rPr lang="en-GB" altLang="en-US" sz="2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GB" altLang="en-US" sz="2200" dirty="0">
                <a:latin typeface="Times New Roman" pitchFamily="18" charset="0"/>
                <a:cs typeface="Times New Roman" pitchFamily="18" charset="0"/>
              </a:rPr>
              <a:t>heavy computation needed)</a:t>
            </a:r>
            <a:r>
              <a:rPr lang="ar-SA" altLang="en-US" sz="2200" dirty="0">
                <a:latin typeface="Times New Roman" pitchFamily="18" charset="0"/>
                <a:cs typeface="Times New Roman" pitchFamily="18" charset="0"/>
              </a:rPr>
              <a:t>‏</a:t>
            </a:r>
            <a:endParaRPr lang="en-GB" alt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3000"/>
              </a:lnSpc>
              <a:buNone/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endParaRPr lang="en-GB" alt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3000"/>
              </a:lnSpc>
              <a:buNone/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endParaRPr lang="en-GB" altLang="en-US" sz="2200" dirty="0"/>
          </a:p>
        </p:txBody>
      </p:sp>
    </p:spTree>
    <p:extLst>
      <p:ext uri="{BB962C8B-B14F-4D97-AF65-F5344CB8AC3E}">
        <p14:creationId xmlns="" xmlns:p14="http://schemas.microsoft.com/office/powerpoint/2010/main" val="6479835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7772400" cy="1020762"/>
          </a:xfrm>
        </p:spPr>
        <p:txBody>
          <a:bodyPr>
            <a:normAutofit/>
          </a:bodyPr>
          <a:lstStyle/>
          <a:p>
            <a:pPr algn="ctr"/>
            <a:r>
              <a:rPr lang="en-US" altLang="ko-KR" sz="3000" b="1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FLAT SHADING</a:t>
            </a:r>
            <a:endParaRPr lang="ko-KR" altLang="en-US" sz="3000" b="1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1873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64952" y="1649412"/>
            <a:ext cx="7886700" cy="4351338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One Illumination Calculation per Polygon</a:t>
            </a:r>
          </a:p>
          <a:p>
            <a:pPr lvl="1"/>
            <a:r>
              <a:rPr lang="en-US" altLang="ko-KR" sz="2400" dirty="0">
                <a:solidFill>
                  <a:srgbClr val="090909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Assign all pixels inside each polygon the same color</a:t>
            </a:r>
            <a:endParaRPr lang="ko-KR" altLang="en-US" sz="2400" dirty="0">
              <a:solidFill>
                <a:srgbClr val="090909"/>
              </a:solidFill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pic>
        <p:nvPicPr>
          <p:cNvPr id="1873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667000"/>
            <a:ext cx="3729038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837260" y="3686175"/>
            <a:ext cx="3342084" cy="2305050"/>
            <a:chOff x="1470" y="1758"/>
            <a:chExt cx="2807" cy="1452"/>
          </a:xfrm>
        </p:grpSpPr>
        <p:sp>
          <p:nvSpPr>
            <p:cNvPr id="187398" name="Rectangle 6"/>
            <p:cNvSpPr>
              <a:spLocks noChangeArrowheads="1"/>
            </p:cNvSpPr>
            <p:nvPr/>
          </p:nvSpPr>
          <p:spPr bwMode="auto">
            <a:xfrm>
              <a:off x="1470" y="1758"/>
              <a:ext cx="2807" cy="145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7399" name="Line 7"/>
            <p:cNvSpPr>
              <a:spLocks noChangeShapeType="1"/>
            </p:cNvSpPr>
            <p:nvPr/>
          </p:nvSpPr>
          <p:spPr bwMode="auto">
            <a:xfrm flipH="1">
              <a:off x="1746" y="176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400" name="Line 8"/>
            <p:cNvSpPr>
              <a:spLocks noChangeShapeType="1"/>
            </p:cNvSpPr>
            <p:nvPr/>
          </p:nvSpPr>
          <p:spPr bwMode="auto">
            <a:xfrm flipH="1">
              <a:off x="2028" y="1758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401" name="Line 9"/>
            <p:cNvSpPr>
              <a:spLocks noChangeShapeType="1"/>
            </p:cNvSpPr>
            <p:nvPr/>
          </p:nvSpPr>
          <p:spPr bwMode="auto">
            <a:xfrm flipH="1">
              <a:off x="2310" y="176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402" name="Line 10"/>
            <p:cNvSpPr>
              <a:spLocks noChangeShapeType="1"/>
            </p:cNvSpPr>
            <p:nvPr/>
          </p:nvSpPr>
          <p:spPr bwMode="auto">
            <a:xfrm flipH="1">
              <a:off x="2592" y="1758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403" name="Line 11"/>
            <p:cNvSpPr>
              <a:spLocks noChangeShapeType="1"/>
            </p:cNvSpPr>
            <p:nvPr/>
          </p:nvSpPr>
          <p:spPr bwMode="auto">
            <a:xfrm flipH="1">
              <a:off x="2874" y="176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404" name="Line 12"/>
            <p:cNvSpPr>
              <a:spLocks noChangeShapeType="1"/>
            </p:cNvSpPr>
            <p:nvPr/>
          </p:nvSpPr>
          <p:spPr bwMode="auto">
            <a:xfrm flipH="1">
              <a:off x="3156" y="1758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405" name="Line 13"/>
            <p:cNvSpPr>
              <a:spLocks noChangeShapeType="1"/>
            </p:cNvSpPr>
            <p:nvPr/>
          </p:nvSpPr>
          <p:spPr bwMode="auto">
            <a:xfrm flipH="1">
              <a:off x="3432" y="176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406" name="Line 14"/>
            <p:cNvSpPr>
              <a:spLocks noChangeShapeType="1"/>
            </p:cNvSpPr>
            <p:nvPr/>
          </p:nvSpPr>
          <p:spPr bwMode="auto">
            <a:xfrm flipH="1">
              <a:off x="3714" y="1770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407" name="Line 15"/>
            <p:cNvSpPr>
              <a:spLocks noChangeShapeType="1"/>
            </p:cNvSpPr>
            <p:nvPr/>
          </p:nvSpPr>
          <p:spPr bwMode="auto">
            <a:xfrm flipH="1">
              <a:off x="3996" y="176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408" name="Line 16"/>
            <p:cNvSpPr>
              <a:spLocks noChangeShapeType="1"/>
            </p:cNvSpPr>
            <p:nvPr/>
          </p:nvSpPr>
          <p:spPr bwMode="auto">
            <a:xfrm>
              <a:off x="1488" y="2964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409" name="Line 17"/>
            <p:cNvSpPr>
              <a:spLocks noChangeShapeType="1"/>
            </p:cNvSpPr>
            <p:nvPr/>
          </p:nvSpPr>
          <p:spPr bwMode="auto">
            <a:xfrm>
              <a:off x="1488" y="2724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410" name="Line 18"/>
            <p:cNvSpPr>
              <a:spLocks noChangeShapeType="1"/>
            </p:cNvSpPr>
            <p:nvPr/>
          </p:nvSpPr>
          <p:spPr bwMode="auto">
            <a:xfrm>
              <a:off x="1488" y="2484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411" name="Line 19"/>
            <p:cNvSpPr>
              <a:spLocks noChangeShapeType="1"/>
            </p:cNvSpPr>
            <p:nvPr/>
          </p:nvSpPr>
          <p:spPr bwMode="auto">
            <a:xfrm>
              <a:off x="1488" y="2244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412" name="Line 20"/>
            <p:cNvSpPr>
              <a:spLocks noChangeShapeType="1"/>
            </p:cNvSpPr>
            <p:nvPr/>
          </p:nvSpPr>
          <p:spPr bwMode="auto">
            <a:xfrm>
              <a:off x="1488" y="2010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16679050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ChangeArrowheads="1"/>
          </p:cNvSpPr>
          <p:nvPr>
            <p:ph sz="quarter" idx="1"/>
          </p:nvPr>
        </p:nvSpPr>
        <p:spPr>
          <a:xfrm>
            <a:off x="381000" y="914401"/>
            <a:ext cx="8534400" cy="5332978"/>
          </a:xfrm>
          <a:ln/>
        </p:spPr>
        <p:txBody>
          <a:bodyPr anchor="t"/>
          <a:lstStyle/>
          <a:p>
            <a:pPr marL="387409" indent="-292357">
              <a:lnSpc>
                <a:spcPct val="93000"/>
              </a:lnSpc>
              <a:spcAft>
                <a:spcPts val="1293"/>
              </a:spcAft>
              <a:buFont typeface="Wingdings" panose="05000000000000000000" pitchFamily="2" charset="2"/>
              <a:buChar char=""/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r>
              <a:rPr lang="en-GB" altLang="en-US" sz="2540" dirty="0"/>
              <a:t>Compute the colour at the middle of the polygon</a:t>
            </a:r>
          </a:p>
          <a:p>
            <a:pPr marL="387409" indent="-292357">
              <a:lnSpc>
                <a:spcPct val="93000"/>
              </a:lnSpc>
              <a:spcAft>
                <a:spcPts val="1293"/>
              </a:spcAft>
              <a:buFont typeface="Wingdings" panose="05000000000000000000" pitchFamily="2" charset="2"/>
              <a:buChar char=""/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r>
              <a:rPr lang="en-GB" altLang="en-US" sz="2540" dirty="0"/>
              <a:t>All points in the same polygon are coloured by</a:t>
            </a:r>
            <a:r>
              <a:rPr lang="en-GB" altLang="en-US" sz="2540" dirty="0">
                <a:ea typeface="ＭＳ Ｐゴシック" panose="020B0600070205080204" pitchFamily="34" charset="-128"/>
              </a:rPr>
              <a:t> </a:t>
            </a:r>
            <a:r>
              <a:rPr lang="en-GB" altLang="en-US" sz="2540" dirty="0"/>
              <a:t>the same colour</a:t>
            </a:r>
          </a:p>
          <a:p>
            <a:pPr marL="387409" indent="-292357">
              <a:lnSpc>
                <a:spcPct val="93000"/>
              </a:lnSpc>
              <a:spcAft>
                <a:spcPts val="1293"/>
              </a:spcAft>
              <a:tabLst>
                <a:tab pos="404691" algn="l"/>
                <a:tab pos="812262" algn="l"/>
                <a:tab pos="1219833" algn="l"/>
                <a:tab pos="1627403" algn="l"/>
                <a:tab pos="2034975" algn="l"/>
                <a:tab pos="2442545" algn="l"/>
                <a:tab pos="2850117" algn="l"/>
                <a:tab pos="3257687" algn="l"/>
                <a:tab pos="3665259" algn="l"/>
                <a:tab pos="4072829" algn="l"/>
                <a:tab pos="4480400" algn="l"/>
                <a:tab pos="4887971" algn="l"/>
                <a:tab pos="5295542" algn="l"/>
                <a:tab pos="5703113" algn="l"/>
                <a:tab pos="6110684" algn="l"/>
                <a:tab pos="6518255" algn="l"/>
                <a:tab pos="6925826" algn="l"/>
                <a:tab pos="7333397" algn="l"/>
                <a:tab pos="7740968" algn="l"/>
                <a:tab pos="8148538" algn="l"/>
              </a:tabLst>
            </a:pPr>
            <a:endParaRPr lang="en-GB" altLang="en-US" sz="2540" dirty="0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133600"/>
            <a:ext cx="2819400" cy="2285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495800"/>
            <a:ext cx="1470034" cy="1954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1667" t="2184" r="1668" b="2501"/>
          <a:stretch>
            <a:fillRect/>
          </a:stretch>
        </p:blipFill>
        <p:spPr bwMode="auto">
          <a:xfrm>
            <a:off x="381000" y="2057400"/>
            <a:ext cx="4041785" cy="4082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 l="11667" t="2184" r="1668" b="2501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914400" y="228600"/>
            <a:ext cx="7772400" cy="715962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FLAT SHADING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010392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229600" cy="990824"/>
          </a:xfrm>
          <a:ln/>
        </p:spPr>
        <p:txBody>
          <a:bodyPr vert="horz" lIns="81646" tIns="42456" rIns="81646" bIns="42456" rtlCol="0" anchor="ctr">
            <a:normAutofit/>
          </a:bodyPr>
          <a:lstStyle/>
          <a:p>
            <a:pPr algn="ctr">
              <a:lnSpc>
                <a:spcPct val="100000"/>
              </a:lnSpc>
              <a:buClr>
                <a:srgbClr val="FFFF00"/>
              </a:buClr>
              <a:buSzPct val="100000"/>
              <a:tabLst>
                <a:tab pos="0" algn="l"/>
                <a:tab pos="406131" algn="l"/>
                <a:tab pos="813702" algn="l"/>
                <a:tab pos="1221273" algn="l"/>
                <a:tab pos="1628844" algn="l"/>
                <a:tab pos="2036415" algn="l"/>
                <a:tab pos="2443986" algn="l"/>
                <a:tab pos="2851556" algn="l"/>
                <a:tab pos="3259128" algn="l"/>
                <a:tab pos="3666698" algn="l"/>
                <a:tab pos="4074270" algn="l"/>
                <a:tab pos="4481840" algn="l"/>
                <a:tab pos="4889412" algn="l"/>
                <a:tab pos="5296982" algn="l"/>
                <a:tab pos="5704553" algn="l"/>
                <a:tab pos="6112124" algn="l"/>
                <a:tab pos="6519695" algn="l"/>
                <a:tab pos="6927266" algn="l"/>
                <a:tab pos="7334837" algn="l"/>
                <a:tab pos="7742408" algn="l"/>
                <a:tab pos="8149979" algn="l"/>
              </a:tabLst>
            </a:pPr>
            <a:r>
              <a:rPr lang="en-GB" altLang="en-US" sz="2800" b="1" dirty="0" smtClean="0">
                <a:latin typeface="Times New Roman" pitchFamily="18" charset="0"/>
                <a:cs typeface="Times New Roman" pitchFamily="18" charset="0"/>
              </a:rPr>
              <a:t>SHADING POLYHEDRON</a:t>
            </a:r>
            <a:endParaRPr lang="en-GB" alt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2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04800" y="1219200"/>
            <a:ext cx="7924800" cy="5105399"/>
          </a:xfrm>
          <a:ln/>
        </p:spPr>
        <p:txBody>
          <a:bodyPr vert="horz" lIns="81646" tIns="42456" rIns="81646" bIns="42456" rtlCol="0">
            <a:normAutofit/>
          </a:bodyPr>
          <a:lstStyle/>
          <a:p>
            <a:pPr marL="306759" indent="-306759">
              <a:spcBef>
                <a:spcPts val="726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Times New Roman" panose="02020603050405020304" pitchFamily="18" charset="0"/>
              <a:buChar char="•"/>
              <a:tabLst>
                <a:tab pos="324041" algn="l"/>
                <a:tab pos="731611" algn="l"/>
                <a:tab pos="1139183" algn="l"/>
                <a:tab pos="1546753" algn="l"/>
                <a:tab pos="1954325" algn="l"/>
                <a:tab pos="2361895" algn="l"/>
                <a:tab pos="2769467" algn="l"/>
                <a:tab pos="3177037" algn="l"/>
                <a:tab pos="3584608" algn="l"/>
                <a:tab pos="3992179" algn="l"/>
                <a:tab pos="4399750" algn="l"/>
                <a:tab pos="4807321" algn="l"/>
                <a:tab pos="5214892" algn="l"/>
                <a:tab pos="5622463" algn="l"/>
                <a:tab pos="6030034" algn="l"/>
                <a:tab pos="6437605" algn="l"/>
                <a:tab pos="6845176" algn="l"/>
                <a:tab pos="7252746" algn="l"/>
                <a:tab pos="7660318" algn="l"/>
                <a:tab pos="8067888" algn="l"/>
              </a:tabLst>
            </a:pPr>
            <a:r>
              <a:rPr lang="en-GB" altLang="en-US" b="1" dirty="0"/>
              <a:t>Flat </a:t>
            </a:r>
            <a:r>
              <a:rPr lang="en-GB" altLang="en-US" b="1" dirty="0" smtClean="0"/>
              <a:t> </a:t>
            </a:r>
            <a:r>
              <a:rPr lang="en-GB" altLang="en-US" b="1" dirty="0"/>
              <a:t>shading</a:t>
            </a:r>
            <a:r>
              <a:rPr lang="en-GB" altLang="en-US" dirty="0"/>
              <a:t>:</a:t>
            </a:r>
          </a:p>
          <a:p>
            <a:pPr marL="669684" lvl="1" indent="-254912">
              <a:spcBef>
                <a:spcPts val="635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Times New Roman" panose="02020603050405020304" pitchFamily="18" charset="0"/>
              <a:buChar char="–"/>
              <a:tabLst>
                <a:tab pos="324041" algn="l"/>
                <a:tab pos="731611" algn="l"/>
                <a:tab pos="1139183" algn="l"/>
                <a:tab pos="1546753" algn="l"/>
                <a:tab pos="1954325" algn="l"/>
                <a:tab pos="2361895" algn="l"/>
                <a:tab pos="2769467" algn="l"/>
                <a:tab pos="3177037" algn="l"/>
                <a:tab pos="3584608" algn="l"/>
                <a:tab pos="3992179" algn="l"/>
                <a:tab pos="4399750" algn="l"/>
                <a:tab pos="4807321" algn="l"/>
                <a:tab pos="5214892" algn="l"/>
                <a:tab pos="5622463" algn="l"/>
                <a:tab pos="6030034" algn="l"/>
                <a:tab pos="6437605" algn="l"/>
                <a:tab pos="6845176" algn="l"/>
                <a:tab pos="7252746" algn="l"/>
                <a:tab pos="7660318" algn="l"/>
                <a:tab pos="8067888" algn="l"/>
              </a:tabLst>
            </a:pPr>
            <a:r>
              <a:rPr lang="en-GB" altLang="en-US" dirty="0"/>
              <a:t>Works well for </a:t>
            </a:r>
            <a:r>
              <a:rPr lang="en-GB" altLang="en-US" dirty="0" smtClean="0"/>
              <a:t>objects really </a:t>
            </a:r>
            <a:r>
              <a:rPr lang="en-GB" altLang="en-US" dirty="0"/>
              <a:t>made of flat faces.</a:t>
            </a:r>
          </a:p>
          <a:p>
            <a:pPr marL="669684" lvl="1" indent="-254912">
              <a:spcBef>
                <a:spcPts val="635"/>
              </a:spcBef>
              <a:spcAft>
                <a:spcPct val="0"/>
              </a:spcAft>
              <a:buClr>
                <a:srgbClr val="FFFFFF"/>
              </a:buClr>
              <a:buSzPct val="100000"/>
              <a:buFont typeface="Times New Roman" panose="02020603050405020304" pitchFamily="18" charset="0"/>
              <a:buChar char="–"/>
              <a:tabLst>
                <a:tab pos="324041" algn="l"/>
                <a:tab pos="731611" algn="l"/>
                <a:tab pos="1139183" algn="l"/>
                <a:tab pos="1546753" algn="l"/>
                <a:tab pos="1954325" algn="l"/>
                <a:tab pos="2361895" algn="l"/>
                <a:tab pos="2769467" algn="l"/>
                <a:tab pos="3177037" algn="l"/>
                <a:tab pos="3584608" algn="l"/>
                <a:tab pos="3992179" algn="l"/>
                <a:tab pos="4399750" algn="l"/>
                <a:tab pos="4807321" algn="l"/>
                <a:tab pos="5214892" algn="l"/>
                <a:tab pos="5622463" algn="l"/>
                <a:tab pos="6030034" algn="l"/>
                <a:tab pos="6437605" algn="l"/>
                <a:tab pos="6845176" algn="l"/>
                <a:tab pos="7252746" algn="l"/>
                <a:tab pos="7660318" algn="l"/>
                <a:tab pos="8067888" algn="l"/>
              </a:tabLst>
            </a:pPr>
            <a:r>
              <a:rPr lang="en-GB" altLang="en-US" dirty="0"/>
              <a:t>Appearance depends </a:t>
            </a:r>
            <a:r>
              <a:rPr lang="en-GB" altLang="en-US" dirty="0" smtClean="0"/>
              <a:t>on number </a:t>
            </a:r>
            <a:r>
              <a:rPr lang="en-GB" altLang="en-US" dirty="0"/>
              <a:t>of polygons </a:t>
            </a:r>
            <a:r>
              <a:rPr lang="en-GB" altLang="en-US" dirty="0" smtClean="0"/>
              <a:t>for </a:t>
            </a:r>
            <a:r>
              <a:rPr lang="en-GB" altLang="en-US" dirty="0"/>
              <a:t>curved surface objects</a:t>
            </a:r>
            <a:r>
              <a:rPr lang="en-GB" altLang="en-US" dirty="0" smtClean="0"/>
              <a:t>.</a:t>
            </a:r>
            <a:endParaRPr lang="en-GB" altLang="en-US" dirty="0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1142641" y="2010452"/>
            <a:ext cx="6858720" cy="1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33"/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971800"/>
            <a:ext cx="3048000" cy="266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7104104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990600"/>
            <a:ext cx="8382000" cy="5334000"/>
          </a:xfrm>
        </p:spPr>
        <p:txBody>
          <a:bodyPr/>
          <a:lstStyle/>
          <a:p>
            <a:pPr lvl="1"/>
            <a:r>
              <a:rPr lang="en-US" altLang="ko-KR" dirty="0">
                <a:solidFill>
                  <a:srgbClr val="000000"/>
                </a:solidFill>
                <a:ea typeface="굴림" pitchFamily="50" charset="-127"/>
              </a:rPr>
              <a:t>Objects Look Like They are Composed of Polygons</a:t>
            </a:r>
          </a:p>
          <a:p>
            <a:pPr lvl="1"/>
            <a:r>
              <a:rPr lang="en-US" altLang="ko-KR" dirty="0">
                <a:solidFill>
                  <a:srgbClr val="090909"/>
                </a:solidFill>
                <a:ea typeface="굴림" pitchFamily="50" charset="-127"/>
              </a:rPr>
              <a:t>OK for polyhedral objects</a:t>
            </a:r>
          </a:p>
          <a:p>
            <a:pPr lvl="1"/>
            <a:r>
              <a:rPr lang="en-US" altLang="ko-KR" dirty="0">
                <a:solidFill>
                  <a:srgbClr val="090909"/>
                </a:solidFill>
                <a:ea typeface="굴림" pitchFamily="50" charset="-127"/>
              </a:rPr>
              <a:t>Not so good for ones with smooth surfaces</a:t>
            </a:r>
            <a:endParaRPr lang="ko-KR" altLang="en-US" dirty="0">
              <a:solidFill>
                <a:srgbClr val="090909"/>
              </a:solidFill>
              <a:ea typeface="굴림" pitchFamily="50" charset="-127"/>
            </a:endParaRPr>
          </a:p>
        </p:txBody>
      </p:sp>
      <p:pic>
        <p:nvPicPr>
          <p:cNvPr id="1894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429000"/>
            <a:ext cx="2764631" cy="17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94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048000"/>
            <a:ext cx="1771650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3">
            <a:extLst>
              <a:ext uri="{FF2B5EF4-FFF2-40B4-BE49-F238E27FC236}">
                <a16:creationId xmlns="" xmlns:a16="http://schemas.microsoft.com/office/drawing/2014/main" id="{EFC7EE4E-7058-519E-E238-F4DCE8A6BFEB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124200"/>
            <a:ext cx="2163217" cy="1848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914400" y="228600"/>
            <a:ext cx="7772400" cy="715962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FLAT SHADING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645982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7772400" cy="715962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b="1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GOURAUD SHADING</a:t>
            </a:r>
            <a:endParaRPr lang="ko-KR" altLang="en-US" sz="2800" b="1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1935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990600"/>
            <a:ext cx="8382000" cy="5334000"/>
          </a:xfrm>
        </p:spPr>
        <p:txBody>
          <a:bodyPr/>
          <a:lstStyle/>
          <a:p>
            <a:pPr lvl="1" algn="just"/>
            <a:r>
              <a:rPr lang="en-US" altLang="ko-KR" dirty="0">
                <a:solidFill>
                  <a:srgbClr val="000000"/>
                </a:solidFill>
                <a:ea typeface="굴림" pitchFamily="50" charset="-127"/>
              </a:rPr>
              <a:t>One Lighting Calculation per Vertex</a:t>
            </a:r>
          </a:p>
          <a:p>
            <a:pPr lvl="1" algn="just"/>
            <a:r>
              <a:rPr lang="en-US" altLang="ko-KR" dirty="0">
                <a:solidFill>
                  <a:srgbClr val="090909"/>
                </a:solidFill>
                <a:ea typeface="굴림" pitchFamily="50" charset="-127"/>
              </a:rPr>
              <a:t>Assign pixels inside polygon by interpolating colors computed at vertices</a:t>
            </a:r>
            <a:endParaRPr lang="ko-KR" altLang="en-US" dirty="0">
              <a:solidFill>
                <a:srgbClr val="090909"/>
              </a:solidFill>
              <a:ea typeface="굴림" pitchFamily="50" charset="-127"/>
            </a:endParaRPr>
          </a:p>
        </p:txBody>
      </p:sp>
      <p:sp>
        <p:nvSpPr>
          <p:cNvPr id="193541" name="Freeform 5"/>
          <p:cNvSpPr>
            <a:spLocks/>
          </p:cNvSpPr>
          <p:nvPr/>
        </p:nvSpPr>
        <p:spPr bwMode="auto">
          <a:xfrm>
            <a:off x="3257550" y="3886200"/>
            <a:ext cx="1885950" cy="1752600"/>
          </a:xfrm>
          <a:custGeom>
            <a:avLst/>
            <a:gdLst>
              <a:gd name="T0" fmla="*/ 1440 w 1584"/>
              <a:gd name="T1" fmla="*/ 0 h 1104"/>
              <a:gd name="T2" fmla="*/ 0 w 1584"/>
              <a:gd name="T3" fmla="*/ 1008 h 1104"/>
              <a:gd name="T4" fmla="*/ 1584 w 1584"/>
              <a:gd name="T5" fmla="*/ 1104 h 1104"/>
              <a:gd name="T6" fmla="*/ 1440 w 1584"/>
              <a:gd name="T7" fmla="*/ 0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84" h="1104">
                <a:moveTo>
                  <a:pt x="1440" y="0"/>
                </a:moveTo>
                <a:lnTo>
                  <a:pt x="0" y="1008"/>
                </a:lnTo>
                <a:lnTo>
                  <a:pt x="1584" y="1104"/>
                </a:lnTo>
                <a:lnTo>
                  <a:pt x="1440" y="0"/>
                </a:lnTo>
                <a:close/>
              </a:path>
            </a:pathLst>
          </a:custGeom>
          <a:gradFill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 cmpd="sng">
                <a:solidFill>
                  <a:schemeClr val="accent2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2800350" y="3387725"/>
            <a:ext cx="400050" cy="457200"/>
            <a:chOff x="1392" y="2134"/>
            <a:chExt cx="336" cy="288"/>
          </a:xfrm>
        </p:grpSpPr>
        <p:sp>
          <p:nvSpPr>
            <p:cNvPr id="193542" name="Line 6"/>
            <p:cNvSpPr>
              <a:spLocks noChangeShapeType="1"/>
            </p:cNvSpPr>
            <p:nvPr/>
          </p:nvSpPr>
          <p:spPr bwMode="auto">
            <a:xfrm flipH="1">
              <a:off x="1392" y="2134"/>
              <a:ext cx="336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3543" name="Line 7"/>
            <p:cNvSpPr>
              <a:spLocks noChangeShapeType="1"/>
            </p:cNvSpPr>
            <p:nvPr/>
          </p:nvSpPr>
          <p:spPr bwMode="auto">
            <a:xfrm flipH="1" flipV="1">
              <a:off x="1392" y="2134"/>
              <a:ext cx="192" cy="28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3544" name="Arc 8"/>
            <p:cNvSpPr>
              <a:spLocks/>
            </p:cNvSpPr>
            <p:nvPr/>
          </p:nvSpPr>
          <p:spPr bwMode="auto">
            <a:xfrm flipH="1">
              <a:off x="1392" y="2134"/>
              <a:ext cx="192" cy="178"/>
            </a:xfrm>
            <a:custGeom>
              <a:avLst/>
              <a:gdLst>
                <a:gd name="G0" fmla="+- 21600 0 0"/>
                <a:gd name="G1" fmla="+- 950 0 0"/>
                <a:gd name="G2" fmla="+- 21600 0 0"/>
                <a:gd name="T0" fmla="*/ 6863 w 21600"/>
                <a:gd name="T1" fmla="*/ 16742 h 16742"/>
                <a:gd name="T2" fmla="*/ 21 w 21600"/>
                <a:gd name="T3" fmla="*/ 0 h 16742"/>
                <a:gd name="T4" fmla="*/ 21600 w 21600"/>
                <a:gd name="T5" fmla="*/ 950 h 16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6742" fill="none" extrusionOk="0">
                  <a:moveTo>
                    <a:pt x="6863" y="16741"/>
                  </a:moveTo>
                  <a:cubicBezTo>
                    <a:pt x="2485" y="12656"/>
                    <a:pt x="0" y="6937"/>
                    <a:pt x="0" y="950"/>
                  </a:cubicBezTo>
                  <a:cubicBezTo>
                    <a:pt x="0" y="633"/>
                    <a:pt x="6" y="316"/>
                    <a:pt x="20" y="-1"/>
                  </a:cubicBezTo>
                </a:path>
                <a:path w="21600" h="16742" stroke="0" extrusionOk="0">
                  <a:moveTo>
                    <a:pt x="6863" y="16741"/>
                  </a:moveTo>
                  <a:cubicBezTo>
                    <a:pt x="2485" y="12656"/>
                    <a:pt x="0" y="6937"/>
                    <a:pt x="0" y="950"/>
                  </a:cubicBezTo>
                  <a:cubicBezTo>
                    <a:pt x="0" y="633"/>
                    <a:pt x="6" y="316"/>
                    <a:pt x="20" y="-1"/>
                  </a:cubicBezTo>
                  <a:lnTo>
                    <a:pt x="21600" y="950"/>
                  </a:lnTo>
                  <a:close/>
                </a:path>
              </a:pathLst>
            </a:custGeom>
            <a:solidFill>
              <a:schemeClr val="accent1"/>
            </a:solidFill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3545" name="Text Box 9"/>
          <p:cNvSpPr txBox="1">
            <a:spLocks noChangeArrowheads="1"/>
          </p:cNvSpPr>
          <p:nvPr/>
        </p:nvSpPr>
        <p:spPr bwMode="auto">
          <a:xfrm>
            <a:off x="1881188" y="3192463"/>
            <a:ext cx="11031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accent1"/>
                </a:solidFill>
                <a:latin typeface="Tahoma" panose="020B0604030504040204" pitchFamily="34" charset="0"/>
              </a:rPr>
              <a:t>Viewer</a:t>
            </a:r>
          </a:p>
        </p:txBody>
      </p:sp>
      <p:pic>
        <p:nvPicPr>
          <p:cNvPr id="19354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865438"/>
            <a:ext cx="590550" cy="124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3547" name="Text Box 11"/>
          <p:cNvSpPr txBox="1">
            <a:spLocks noChangeArrowheads="1"/>
          </p:cNvSpPr>
          <p:nvPr/>
        </p:nvSpPr>
        <p:spPr bwMode="auto">
          <a:xfrm>
            <a:off x="6796087" y="3192463"/>
            <a:ext cx="8531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accent1"/>
                </a:solidFill>
                <a:latin typeface="Tahoma" panose="020B0604030504040204" pitchFamily="34" charset="0"/>
              </a:rPr>
              <a:t>Light</a:t>
            </a:r>
          </a:p>
        </p:txBody>
      </p:sp>
      <p:cxnSp>
        <p:nvCxnSpPr>
          <p:cNvPr id="193548" name="AutoShape 12"/>
          <p:cNvCxnSpPr>
            <a:cxnSpLocks noChangeShapeType="1"/>
            <a:stCxn id="193546" idx="1"/>
            <a:endCxn id="193541" idx="3"/>
          </p:cNvCxnSpPr>
          <p:nvPr/>
        </p:nvCxnSpPr>
        <p:spPr bwMode="auto">
          <a:xfrm flipH="1">
            <a:off x="4972050" y="3490914"/>
            <a:ext cx="1200150" cy="395287"/>
          </a:xfrm>
          <a:prstGeom prst="straightConnector1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549" name="AutoShape 13"/>
          <p:cNvCxnSpPr>
            <a:cxnSpLocks noChangeShapeType="1"/>
            <a:stCxn id="193546" idx="1"/>
            <a:endCxn id="193541" idx="1"/>
          </p:cNvCxnSpPr>
          <p:nvPr/>
        </p:nvCxnSpPr>
        <p:spPr bwMode="auto">
          <a:xfrm flipH="1">
            <a:off x="3257550" y="3490915"/>
            <a:ext cx="2914650" cy="1995487"/>
          </a:xfrm>
          <a:prstGeom prst="straightConnector1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550" name="AutoShape 14"/>
          <p:cNvCxnSpPr>
            <a:cxnSpLocks noChangeShapeType="1"/>
            <a:stCxn id="193546" idx="1"/>
            <a:endCxn id="193541" idx="2"/>
          </p:cNvCxnSpPr>
          <p:nvPr/>
        </p:nvCxnSpPr>
        <p:spPr bwMode="auto">
          <a:xfrm flipH="1">
            <a:off x="5143500" y="3490915"/>
            <a:ext cx="1028700" cy="2147887"/>
          </a:xfrm>
          <a:prstGeom prst="straightConnector1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3553" name="Line 17"/>
          <p:cNvSpPr>
            <a:spLocks noChangeShapeType="1"/>
          </p:cNvSpPr>
          <p:nvPr/>
        </p:nvSpPr>
        <p:spPr bwMode="auto">
          <a:xfrm>
            <a:off x="3143250" y="3657600"/>
            <a:ext cx="1828800" cy="2286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554" name="Line 18"/>
          <p:cNvSpPr>
            <a:spLocks noChangeShapeType="1"/>
          </p:cNvSpPr>
          <p:nvPr/>
        </p:nvSpPr>
        <p:spPr bwMode="auto">
          <a:xfrm>
            <a:off x="3143250" y="3657600"/>
            <a:ext cx="2000250" cy="19812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555" name="Line 19"/>
          <p:cNvSpPr>
            <a:spLocks noChangeShapeType="1"/>
          </p:cNvSpPr>
          <p:nvPr/>
        </p:nvSpPr>
        <p:spPr bwMode="auto">
          <a:xfrm>
            <a:off x="3143250" y="3657600"/>
            <a:ext cx="114300" cy="18288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556" name="Oval 20"/>
          <p:cNvSpPr>
            <a:spLocks noChangeArrowheads="1"/>
          </p:cNvSpPr>
          <p:nvPr/>
        </p:nvSpPr>
        <p:spPr bwMode="auto">
          <a:xfrm>
            <a:off x="4914900" y="3810000"/>
            <a:ext cx="1143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557" name="Line 21"/>
          <p:cNvSpPr>
            <a:spLocks noChangeShapeType="1"/>
          </p:cNvSpPr>
          <p:nvPr/>
        </p:nvSpPr>
        <p:spPr bwMode="auto">
          <a:xfrm flipV="1">
            <a:off x="4972050" y="3048000"/>
            <a:ext cx="114300" cy="762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558" name="Line 22"/>
          <p:cNvSpPr>
            <a:spLocks noChangeShapeType="1"/>
          </p:cNvSpPr>
          <p:nvPr/>
        </p:nvSpPr>
        <p:spPr bwMode="auto">
          <a:xfrm flipV="1">
            <a:off x="5029200" y="3657600"/>
            <a:ext cx="571500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559" name="Line 23"/>
          <p:cNvSpPr>
            <a:spLocks noChangeShapeType="1"/>
          </p:cNvSpPr>
          <p:nvPr/>
        </p:nvSpPr>
        <p:spPr bwMode="auto">
          <a:xfrm flipH="1" flipV="1">
            <a:off x="4400550" y="3810000"/>
            <a:ext cx="571500" cy="762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560" name="Line 24"/>
          <p:cNvSpPr>
            <a:spLocks noChangeShapeType="1"/>
          </p:cNvSpPr>
          <p:nvPr/>
        </p:nvSpPr>
        <p:spPr bwMode="auto">
          <a:xfrm flipV="1">
            <a:off x="3257550" y="4724400"/>
            <a:ext cx="114300" cy="762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562" name="Line 26"/>
          <p:cNvSpPr>
            <a:spLocks noChangeShapeType="1"/>
          </p:cNvSpPr>
          <p:nvPr/>
        </p:nvSpPr>
        <p:spPr bwMode="auto">
          <a:xfrm flipV="1">
            <a:off x="5143500" y="4876800"/>
            <a:ext cx="114300" cy="762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563" name="Text Box 27"/>
          <p:cNvSpPr txBox="1">
            <a:spLocks noChangeArrowheads="1"/>
          </p:cNvSpPr>
          <p:nvPr/>
        </p:nvSpPr>
        <p:spPr bwMode="auto">
          <a:xfrm>
            <a:off x="4933951" y="2590800"/>
            <a:ext cx="5100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ko-KR" sz="24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93564" name="Text Box 28"/>
          <p:cNvSpPr txBox="1">
            <a:spLocks noChangeArrowheads="1"/>
          </p:cNvSpPr>
          <p:nvPr/>
        </p:nvSpPr>
        <p:spPr bwMode="auto">
          <a:xfrm>
            <a:off x="5143501" y="4419600"/>
            <a:ext cx="5100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ko-KR" sz="24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93565" name="Text Box 29"/>
          <p:cNvSpPr txBox="1">
            <a:spLocks noChangeArrowheads="1"/>
          </p:cNvSpPr>
          <p:nvPr/>
        </p:nvSpPr>
        <p:spPr bwMode="auto">
          <a:xfrm>
            <a:off x="3257551" y="4267200"/>
            <a:ext cx="5100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ko-KR" sz="24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93566" name="Text Box 30"/>
          <p:cNvSpPr txBox="1">
            <a:spLocks noChangeArrowheads="1"/>
          </p:cNvSpPr>
          <p:nvPr/>
        </p:nvSpPr>
        <p:spPr bwMode="auto">
          <a:xfrm>
            <a:off x="4192191" y="3276600"/>
            <a:ext cx="5100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ko-KR" sz="24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93567" name="Text Box 31"/>
          <p:cNvSpPr txBox="1">
            <a:spLocks noChangeArrowheads="1"/>
          </p:cNvSpPr>
          <p:nvPr/>
        </p:nvSpPr>
        <p:spPr bwMode="auto">
          <a:xfrm>
            <a:off x="5429250" y="3200400"/>
            <a:ext cx="4748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ko-KR" sz="24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93568" name="Text Box 32"/>
          <p:cNvSpPr txBox="1">
            <a:spLocks noChangeArrowheads="1"/>
          </p:cNvSpPr>
          <p:nvPr/>
        </p:nvSpPr>
        <p:spPr bwMode="auto">
          <a:xfrm>
            <a:off x="3908822" y="5707063"/>
            <a:ext cx="12453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accent1"/>
                </a:solidFill>
                <a:latin typeface="Tahoma" panose="020B0604030504040204" pitchFamily="34" charset="0"/>
              </a:rPr>
              <a:t>Polygon</a:t>
            </a:r>
          </a:p>
        </p:txBody>
      </p:sp>
    </p:spTree>
    <p:extLst>
      <p:ext uri="{BB962C8B-B14F-4D97-AF65-F5344CB8AC3E}">
        <p14:creationId xmlns="" xmlns:p14="http://schemas.microsoft.com/office/powerpoint/2010/main" val="21497961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838200"/>
            <a:ext cx="8686800" cy="5638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3820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sz="2800" b="1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GOURAUD SHADING</a:t>
            </a:r>
            <a:endParaRPr lang="ko-KR" altLang="en-US" sz="2800" b="1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pic>
        <p:nvPicPr>
          <p:cNvPr id="1054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762000"/>
            <a:ext cx="88392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838200"/>
            <a:ext cx="8305800" cy="5410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3820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sz="2800" b="1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GOURAUD SHADING</a:t>
            </a:r>
            <a:endParaRPr lang="ko-KR" altLang="en-US" sz="2800" b="1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1" y="457200"/>
            <a:ext cx="41148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1667" t="2184" r="1668" b="2501"/>
          <a:stretch>
            <a:fillRect/>
          </a:stretch>
        </p:blipFill>
        <p:spPr bwMode="auto">
          <a:xfrm>
            <a:off x="228600" y="533399"/>
            <a:ext cx="4343400" cy="5181601"/>
          </a:xfrm>
          <a:prstGeom prst="rect">
            <a:avLst/>
          </a:prstGeom>
          <a:noFill/>
          <a:ln w="76200"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 l="11667" t="2184" r="1668" b="2501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90600" y="6096000"/>
            <a:ext cx="24384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Flat/Constant Shading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10200" y="6096000"/>
            <a:ext cx="2438400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Gourand Shading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155056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838200"/>
            <a:ext cx="8382000" cy="5181600"/>
          </a:xfrm>
        </p:spPr>
        <p:txBody>
          <a:bodyPr/>
          <a:lstStyle/>
          <a:p>
            <a:pPr lvl="1"/>
            <a:r>
              <a:rPr lang="en-US" altLang="ko-KR" dirty="0">
                <a:solidFill>
                  <a:srgbClr val="000000"/>
                </a:solidFill>
                <a:ea typeface="굴림" pitchFamily="50" charset="-127"/>
              </a:rPr>
              <a:t>Produces Smoothly Shaded Polygonal Mesh</a:t>
            </a:r>
          </a:p>
          <a:p>
            <a:pPr lvl="1"/>
            <a:r>
              <a:rPr lang="en-US" altLang="ko-KR" dirty="0">
                <a:solidFill>
                  <a:srgbClr val="090909"/>
                </a:solidFill>
                <a:ea typeface="굴림" pitchFamily="50" charset="-127"/>
              </a:rPr>
              <a:t>Piecewise linear approximation</a:t>
            </a:r>
          </a:p>
          <a:p>
            <a:pPr lvl="1"/>
            <a:r>
              <a:rPr lang="en-US" altLang="ko-KR" dirty="0">
                <a:solidFill>
                  <a:srgbClr val="090909"/>
                </a:solidFill>
                <a:ea typeface="굴림" pitchFamily="50" charset="-127"/>
              </a:rPr>
              <a:t>Need fine mesh to capture subtle lighting effects</a:t>
            </a:r>
            <a:endParaRPr lang="ko-KR" altLang="en-US" dirty="0">
              <a:solidFill>
                <a:srgbClr val="090909"/>
              </a:solidFill>
              <a:ea typeface="굴림" pitchFamily="50" charset="-127"/>
            </a:endParaRPr>
          </a:p>
        </p:txBody>
      </p:sp>
      <p:pic>
        <p:nvPicPr>
          <p:cNvPr id="1976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048000"/>
            <a:ext cx="2950369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763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124200"/>
            <a:ext cx="2925366" cy="17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7638" name="Text Box 6"/>
          <p:cNvSpPr txBox="1">
            <a:spLocks noChangeArrowheads="1"/>
          </p:cNvSpPr>
          <p:nvPr/>
        </p:nvSpPr>
        <p:spPr bwMode="auto">
          <a:xfrm>
            <a:off x="1981200" y="5181600"/>
            <a:ext cx="18630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 dirty="0">
                <a:solidFill>
                  <a:schemeClr val="accent1"/>
                </a:solidFill>
                <a:latin typeface="Tahoma" panose="020B0604030504040204" pitchFamily="34" charset="0"/>
              </a:rPr>
              <a:t>Flat Shading</a:t>
            </a:r>
          </a:p>
        </p:txBody>
      </p:sp>
      <p:sp>
        <p:nvSpPr>
          <p:cNvPr id="197639" name="Text Box 7"/>
          <p:cNvSpPr txBox="1">
            <a:spLocks noChangeArrowheads="1"/>
          </p:cNvSpPr>
          <p:nvPr/>
        </p:nvSpPr>
        <p:spPr bwMode="auto">
          <a:xfrm>
            <a:off x="5181600" y="5181600"/>
            <a:ext cx="25197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 dirty="0" err="1">
                <a:solidFill>
                  <a:schemeClr val="accent1"/>
                </a:solidFill>
                <a:latin typeface="Tahoma" panose="020B0604030504040204" pitchFamily="34" charset="0"/>
              </a:rPr>
              <a:t>Gouraud</a:t>
            </a:r>
            <a:r>
              <a:rPr lang="en-US" altLang="ko-KR" sz="2400" dirty="0">
                <a:solidFill>
                  <a:schemeClr val="accent1"/>
                </a:solidFill>
                <a:latin typeface="Tahoma" panose="020B0604030504040204" pitchFamily="34" charset="0"/>
              </a:rPr>
              <a:t> Shading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3820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sz="2800" b="1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GOURAUD SHADING</a:t>
            </a:r>
            <a:endParaRPr lang="ko-KR" altLang="en-US" sz="2800" b="1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7174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7772400" cy="792162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b="1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PHONG SHADING</a:t>
            </a:r>
            <a:endParaRPr lang="en-US" altLang="ko-KR" sz="2800" b="1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2007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219200"/>
            <a:ext cx="8458200" cy="4800600"/>
          </a:xfrm>
        </p:spPr>
        <p:txBody>
          <a:bodyPr/>
          <a:lstStyle/>
          <a:p>
            <a:r>
              <a:rPr lang="en-US" altLang="ko-KR" dirty="0">
                <a:ea typeface="굴림" pitchFamily="50" charset="-127"/>
              </a:rPr>
              <a:t>What if Polygonal Mesh is too Coarse to Capture Illumination Effects in Polygon Interiors?</a:t>
            </a:r>
            <a:endParaRPr lang="ko-KR" altLang="en-US" dirty="0">
              <a:ea typeface="굴림" pitchFamily="50" charset="-127"/>
            </a:endParaRPr>
          </a:p>
        </p:txBody>
      </p:sp>
      <p:sp>
        <p:nvSpPr>
          <p:cNvPr id="200708" name="Freeform 4"/>
          <p:cNvSpPr>
            <a:spLocks/>
          </p:cNvSpPr>
          <p:nvPr/>
        </p:nvSpPr>
        <p:spPr bwMode="auto">
          <a:xfrm>
            <a:off x="3257550" y="3733800"/>
            <a:ext cx="1885950" cy="1752600"/>
          </a:xfrm>
          <a:custGeom>
            <a:avLst/>
            <a:gdLst>
              <a:gd name="T0" fmla="*/ 1440 w 1584"/>
              <a:gd name="T1" fmla="*/ 0 h 1104"/>
              <a:gd name="T2" fmla="*/ 0 w 1584"/>
              <a:gd name="T3" fmla="*/ 1008 h 1104"/>
              <a:gd name="T4" fmla="*/ 1584 w 1584"/>
              <a:gd name="T5" fmla="*/ 1104 h 1104"/>
              <a:gd name="T6" fmla="*/ 1440 w 1584"/>
              <a:gd name="T7" fmla="*/ 0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84" h="1104">
                <a:moveTo>
                  <a:pt x="1440" y="0"/>
                </a:moveTo>
                <a:lnTo>
                  <a:pt x="0" y="1008"/>
                </a:lnTo>
                <a:lnTo>
                  <a:pt x="1584" y="1104"/>
                </a:lnTo>
                <a:lnTo>
                  <a:pt x="1440" y="0"/>
                </a:lnTo>
                <a:close/>
              </a:path>
            </a:pathLst>
          </a:custGeom>
          <a:gradFill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 cmpd="sng">
                <a:solidFill>
                  <a:schemeClr val="accent2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800350" y="3235325"/>
            <a:ext cx="400050" cy="457200"/>
            <a:chOff x="1392" y="2134"/>
            <a:chExt cx="336" cy="288"/>
          </a:xfrm>
        </p:grpSpPr>
        <p:sp>
          <p:nvSpPr>
            <p:cNvPr id="200710" name="Line 6"/>
            <p:cNvSpPr>
              <a:spLocks noChangeShapeType="1"/>
            </p:cNvSpPr>
            <p:nvPr/>
          </p:nvSpPr>
          <p:spPr bwMode="auto">
            <a:xfrm flipH="1">
              <a:off x="1392" y="2134"/>
              <a:ext cx="336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0711" name="Line 7"/>
            <p:cNvSpPr>
              <a:spLocks noChangeShapeType="1"/>
            </p:cNvSpPr>
            <p:nvPr/>
          </p:nvSpPr>
          <p:spPr bwMode="auto">
            <a:xfrm flipH="1" flipV="1">
              <a:off x="1392" y="2134"/>
              <a:ext cx="192" cy="28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0712" name="Arc 8"/>
            <p:cNvSpPr>
              <a:spLocks/>
            </p:cNvSpPr>
            <p:nvPr/>
          </p:nvSpPr>
          <p:spPr bwMode="auto">
            <a:xfrm flipH="1">
              <a:off x="1392" y="2134"/>
              <a:ext cx="192" cy="178"/>
            </a:xfrm>
            <a:custGeom>
              <a:avLst/>
              <a:gdLst>
                <a:gd name="G0" fmla="+- 21600 0 0"/>
                <a:gd name="G1" fmla="+- 950 0 0"/>
                <a:gd name="G2" fmla="+- 21600 0 0"/>
                <a:gd name="T0" fmla="*/ 6863 w 21600"/>
                <a:gd name="T1" fmla="*/ 16742 h 16742"/>
                <a:gd name="T2" fmla="*/ 21 w 21600"/>
                <a:gd name="T3" fmla="*/ 0 h 16742"/>
                <a:gd name="T4" fmla="*/ 21600 w 21600"/>
                <a:gd name="T5" fmla="*/ 950 h 16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6742" fill="none" extrusionOk="0">
                  <a:moveTo>
                    <a:pt x="6863" y="16741"/>
                  </a:moveTo>
                  <a:cubicBezTo>
                    <a:pt x="2485" y="12656"/>
                    <a:pt x="0" y="6937"/>
                    <a:pt x="0" y="950"/>
                  </a:cubicBezTo>
                  <a:cubicBezTo>
                    <a:pt x="0" y="633"/>
                    <a:pt x="6" y="316"/>
                    <a:pt x="20" y="-1"/>
                  </a:cubicBezTo>
                </a:path>
                <a:path w="21600" h="16742" stroke="0" extrusionOk="0">
                  <a:moveTo>
                    <a:pt x="6863" y="16741"/>
                  </a:moveTo>
                  <a:cubicBezTo>
                    <a:pt x="2485" y="12656"/>
                    <a:pt x="0" y="6937"/>
                    <a:pt x="0" y="950"/>
                  </a:cubicBezTo>
                  <a:cubicBezTo>
                    <a:pt x="0" y="633"/>
                    <a:pt x="6" y="316"/>
                    <a:pt x="20" y="-1"/>
                  </a:cubicBezTo>
                  <a:lnTo>
                    <a:pt x="21600" y="950"/>
                  </a:lnTo>
                  <a:close/>
                </a:path>
              </a:pathLst>
            </a:custGeom>
            <a:solidFill>
              <a:schemeClr val="accent1"/>
            </a:solidFill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0713" name="Text Box 9"/>
          <p:cNvSpPr txBox="1">
            <a:spLocks noChangeArrowheads="1"/>
          </p:cNvSpPr>
          <p:nvPr/>
        </p:nvSpPr>
        <p:spPr bwMode="auto">
          <a:xfrm>
            <a:off x="1881188" y="3040063"/>
            <a:ext cx="11031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accent1"/>
                </a:solidFill>
                <a:latin typeface="Tahoma" panose="020B0604030504040204" pitchFamily="34" charset="0"/>
              </a:rPr>
              <a:t>Viewer</a:t>
            </a:r>
          </a:p>
        </p:txBody>
      </p:sp>
      <p:pic>
        <p:nvPicPr>
          <p:cNvPr id="20071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713038"/>
            <a:ext cx="590550" cy="124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0715" name="Text Box 11"/>
          <p:cNvSpPr txBox="1">
            <a:spLocks noChangeArrowheads="1"/>
          </p:cNvSpPr>
          <p:nvPr/>
        </p:nvSpPr>
        <p:spPr bwMode="auto">
          <a:xfrm>
            <a:off x="6796087" y="3040063"/>
            <a:ext cx="8531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accent1"/>
                </a:solidFill>
                <a:latin typeface="Tahoma" panose="020B0604030504040204" pitchFamily="34" charset="0"/>
              </a:rPr>
              <a:t>Light</a:t>
            </a:r>
          </a:p>
        </p:txBody>
      </p:sp>
      <p:cxnSp>
        <p:nvCxnSpPr>
          <p:cNvPr id="200716" name="AutoShape 12"/>
          <p:cNvCxnSpPr>
            <a:cxnSpLocks noChangeShapeType="1"/>
            <a:stCxn id="200714" idx="1"/>
            <a:endCxn id="200708" idx="3"/>
          </p:cNvCxnSpPr>
          <p:nvPr/>
        </p:nvCxnSpPr>
        <p:spPr bwMode="auto">
          <a:xfrm flipH="1">
            <a:off x="4972050" y="3338515"/>
            <a:ext cx="1200150" cy="395287"/>
          </a:xfrm>
          <a:prstGeom prst="straightConnector1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717" name="AutoShape 13"/>
          <p:cNvCxnSpPr>
            <a:cxnSpLocks noChangeShapeType="1"/>
            <a:stCxn id="200714" idx="1"/>
            <a:endCxn id="200708" idx="1"/>
          </p:cNvCxnSpPr>
          <p:nvPr/>
        </p:nvCxnSpPr>
        <p:spPr bwMode="auto">
          <a:xfrm flipH="1">
            <a:off x="3257550" y="3338515"/>
            <a:ext cx="2914650" cy="1995487"/>
          </a:xfrm>
          <a:prstGeom prst="straightConnector1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718" name="AutoShape 14"/>
          <p:cNvCxnSpPr>
            <a:cxnSpLocks noChangeShapeType="1"/>
            <a:stCxn id="200714" idx="1"/>
            <a:endCxn id="200708" idx="2"/>
          </p:cNvCxnSpPr>
          <p:nvPr/>
        </p:nvCxnSpPr>
        <p:spPr bwMode="auto">
          <a:xfrm flipH="1">
            <a:off x="5143500" y="3338515"/>
            <a:ext cx="1028700" cy="2147887"/>
          </a:xfrm>
          <a:prstGeom prst="straightConnector1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0719" name="Line 15"/>
          <p:cNvSpPr>
            <a:spLocks noChangeShapeType="1"/>
          </p:cNvSpPr>
          <p:nvPr/>
        </p:nvSpPr>
        <p:spPr bwMode="auto">
          <a:xfrm>
            <a:off x="3143250" y="3505200"/>
            <a:ext cx="1828800" cy="2286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0720" name="Line 16"/>
          <p:cNvSpPr>
            <a:spLocks noChangeShapeType="1"/>
          </p:cNvSpPr>
          <p:nvPr/>
        </p:nvSpPr>
        <p:spPr bwMode="auto">
          <a:xfrm>
            <a:off x="3143250" y="3505200"/>
            <a:ext cx="2000250" cy="19812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0721" name="Line 17"/>
          <p:cNvSpPr>
            <a:spLocks noChangeShapeType="1"/>
          </p:cNvSpPr>
          <p:nvPr/>
        </p:nvSpPr>
        <p:spPr bwMode="auto">
          <a:xfrm>
            <a:off x="3143250" y="3505200"/>
            <a:ext cx="114300" cy="18288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0722" name="Oval 18"/>
          <p:cNvSpPr>
            <a:spLocks noChangeArrowheads="1"/>
          </p:cNvSpPr>
          <p:nvPr/>
        </p:nvSpPr>
        <p:spPr bwMode="auto">
          <a:xfrm>
            <a:off x="4914900" y="3657600"/>
            <a:ext cx="1143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0723" name="Line 19"/>
          <p:cNvSpPr>
            <a:spLocks noChangeShapeType="1"/>
          </p:cNvSpPr>
          <p:nvPr/>
        </p:nvSpPr>
        <p:spPr bwMode="auto">
          <a:xfrm flipV="1">
            <a:off x="4972050" y="2895600"/>
            <a:ext cx="114300" cy="762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0724" name="Line 20"/>
          <p:cNvSpPr>
            <a:spLocks noChangeShapeType="1"/>
          </p:cNvSpPr>
          <p:nvPr/>
        </p:nvSpPr>
        <p:spPr bwMode="auto">
          <a:xfrm flipV="1">
            <a:off x="5029200" y="3505200"/>
            <a:ext cx="571500" cy="228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0725" name="Line 21"/>
          <p:cNvSpPr>
            <a:spLocks noChangeShapeType="1"/>
          </p:cNvSpPr>
          <p:nvPr/>
        </p:nvSpPr>
        <p:spPr bwMode="auto">
          <a:xfrm flipH="1" flipV="1">
            <a:off x="4400550" y="3657600"/>
            <a:ext cx="571500" cy="762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0726" name="Line 22"/>
          <p:cNvSpPr>
            <a:spLocks noChangeShapeType="1"/>
          </p:cNvSpPr>
          <p:nvPr/>
        </p:nvSpPr>
        <p:spPr bwMode="auto">
          <a:xfrm flipV="1">
            <a:off x="3257550" y="4572000"/>
            <a:ext cx="114300" cy="762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0727" name="Line 23"/>
          <p:cNvSpPr>
            <a:spLocks noChangeShapeType="1"/>
          </p:cNvSpPr>
          <p:nvPr/>
        </p:nvSpPr>
        <p:spPr bwMode="auto">
          <a:xfrm flipV="1">
            <a:off x="5143500" y="4724400"/>
            <a:ext cx="114300" cy="762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0728" name="Text Box 24"/>
          <p:cNvSpPr txBox="1">
            <a:spLocks noChangeArrowheads="1"/>
          </p:cNvSpPr>
          <p:nvPr/>
        </p:nvSpPr>
        <p:spPr bwMode="auto">
          <a:xfrm>
            <a:off x="4933951" y="2438400"/>
            <a:ext cx="5100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ko-KR" sz="24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0729" name="Text Box 25"/>
          <p:cNvSpPr txBox="1">
            <a:spLocks noChangeArrowheads="1"/>
          </p:cNvSpPr>
          <p:nvPr/>
        </p:nvSpPr>
        <p:spPr bwMode="auto">
          <a:xfrm>
            <a:off x="5143501" y="4267200"/>
            <a:ext cx="5100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ko-KR" sz="24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00730" name="Text Box 26"/>
          <p:cNvSpPr txBox="1">
            <a:spLocks noChangeArrowheads="1"/>
          </p:cNvSpPr>
          <p:nvPr/>
        </p:nvSpPr>
        <p:spPr bwMode="auto">
          <a:xfrm>
            <a:off x="3257551" y="4114800"/>
            <a:ext cx="5100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ko-KR" sz="24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0731" name="Text Box 27"/>
          <p:cNvSpPr txBox="1">
            <a:spLocks noChangeArrowheads="1"/>
          </p:cNvSpPr>
          <p:nvPr/>
        </p:nvSpPr>
        <p:spPr bwMode="auto">
          <a:xfrm>
            <a:off x="4192191" y="3124200"/>
            <a:ext cx="5100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en-US" altLang="ko-KR" sz="24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0732" name="Text Box 28"/>
          <p:cNvSpPr txBox="1">
            <a:spLocks noChangeArrowheads="1"/>
          </p:cNvSpPr>
          <p:nvPr/>
        </p:nvSpPr>
        <p:spPr bwMode="auto">
          <a:xfrm>
            <a:off x="5429250" y="3048000"/>
            <a:ext cx="4748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ko-KR" sz="24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0733" name="Text Box 29"/>
          <p:cNvSpPr txBox="1">
            <a:spLocks noChangeArrowheads="1"/>
          </p:cNvSpPr>
          <p:nvPr/>
        </p:nvSpPr>
        <p:spPr bwMode="auto">
          <a:xfrm>
            <a:off x="3908822" y="5326063"/>
            <a:ext cx="12453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accent1"/>
                </a:solidFill>
                <a:latin typeface="Tahoma" panose="020B0604030504040204" pitchFamily="34" charset="0"/>
              </a:rPr>
              <a:t>Polygon</a:t>
            </a:r>
          </a:p>
        </p:txBody>
      </p:sp>
      <p:graphicFrame>
        <p:nvGraphicFramePr>
          <p:cNvPr id="200735" name="Object 31"/>
          <p:cNvGraphicFramePr>
            <a:graphicFrameLocks noChangeAspect="1"/>
          </p:cNvGraphicFramePr>
          <p:nvPr/>
        </p:nvGraphicFramePr>
        <p:xfrm>
          <a:off x="2005014" y="5791200"/>
          <a:ext cx="5132785" cy="623888"/>
        </p:xfrm>
        <a:graphic>
          <a:graphicData uri="http://schemas.openxmlformats.org/presentationml/2006/ole">
            <p:oleObj spid="_x0000_s33794" name="Equation" r:id="rId4" imgW="3060700" imgH="279400" progId="Equation.3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25065630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7772400" cy="792162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b="1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PHONG SHADING</a:t>
            </a:r>
            <a:endParaRPr lang="ko-KR" altLang="en-US" sz="2800" b="1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2017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066800"/>
            <a:ext cx="8458200" cy="4953000"/>
          </a:xfrm>
        </p:spPr>
        <p:txBody>
          <a:bodyPr/>
          <a:lstStyle/>
          <a:p>
            <a:pPr lvl="1"/>
            <a:r>
              <a:rPr lang="en-US" altLang="ko-KR" dirty="0">
                <a:solidFill>
                  <a:srgbClr val="000000"/>
                </a:solidFill>
                <a:ea typeface="굴림" pitchFamily="50" charset="-127"/>
              </a:rPr>
              <a:t>One Lighting Calculation per Pixel</a:t>
            </a:r>
          </a:p>
          <a:p>
            <a:pPr lvl="1"/>
            <a:r>
              <a:rPr lang="en-US" altLang="ko-KR" dirty="0">
                <a:solidFill>
                  <a:srgbClr val="090909"/>
                </a:solidFill>
                <a:ea typeface="굴림" pitchFamily="50" charset="-127"/>
              </a:rPr>
              <a:t>Approximate surface </a:t>
            </a:r>
            <a:r>
              <a:rPr lang="en-US" altLang="ko-KR" dirty="0" smtClean="0">
                <a:solidFill>
                  <a:srgbClr val="090909"/>
                </a:solidFill>
                <a:ea typeface="굴림" pitchFamily="50" charset="-127"/>
              </a:rPr>
              <a:t>normal </a:t>
            </a:r>
            <a:r>
              <a:rPr lang="en-US" altLang="ko-KR" dirty="0">
                <a:solidFill>
                  <a:srgbClr val="090909"/>
                </a:solidFill>
                <a:ea typeface="굴림" pitchFamily="50" charset="-127"/>
              </a:rPr>
              <a:t>for points inside polygons by bilinear interpolation of </a:t>
            </a:r>
            <a:r>
              <a:rPr lang="en-US" altLang="ko-KR" dirty="0" err="1" smtClean="0">
                <a:solidFill>
                  <a:srgbClr val="090909"/>
                </a:solidFill>
                <a:ea typeface="굴림" pitchFamily="50" charset="-127"/>
              </a:rPr>
              <a:t>normals</a:t>
            </a:r>
            <a:r>
              <a:rPr lang="en-US" altLang="ko-KR" dirty="0" smtClean="0">
                <a:solidFill>
                  <a:srgbClr val="090909"/>
                </a:solidFill>
                <a:ea typeface="굴림" pitchFamily="50" charset="-127"/>
              </a:rPr>
              <a:t> </a:t>
            </a:r>
            <a:r>
              <a:rPr lang="en-US" altLang="ko-KR" dirty="0">
                <a:solidFill>
                  <a:srgbClr val="090909"/>
                </a:solidFill>
                <a:ea typeface="굴림" pitchFamily="50" charset="-127"/>
              </a:rPr>
              <a:t>from vertices</a:t>
            </a:r>
            <a:endParaRPr lang="ko-KR" altLang="en-US" dirty="0">
              <a:solidFill>
                <a:srgbClr val="090909"/>
              </a:solidFill>
              <a:ea typeface="굴림" pitchFamily="50" charset="-127"/>
            </a:endParaRPr>
          </a:p>
        </p:txBody>
      </p:sp>
      <p:sp>
        <p:nvSpPr>
          <p:cNvPr id="201732" name="Freeform 4"/>
          <p:cNvSpPr>
            <a:spLocks/>
          </p:cNvSpPr>
          <p:nvPr/>
        </p:nvSpPr>
        <p:spPr bwMode="auto">
          <a:xfrm>
            <a:off x="3257550" y="3886200"/>
            <a:ext cx="1885950" cy="1752600"/>
          </a:xfrm>
          <a:custGeom>
            <a:avLst/>
            <a:gdLst>
              <a:gd name="T0" fmla="*/ 1440 w 1584"/>
              <a:gd name="T1" fmla="*/ 0 h 1104"/>
              <a:gd name="T2" fmla="*/ 0 w 1584"/>
              <a:gd name="T3" fmla="*/ 1008 h 1104"/>
              <a:gd name="T4" fmla="*/ 1584 w 1584"/>
              <a:gd name="T5" fmla="*/ 1104 h 1104"/>
              <a:gd name="T6" fmla="*/ 1440 w 1584"/>
              <a:gd name="T7" fmla="*/ 0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84" h="1104">
                <a:moveTo>
                  <a:pt x="1440" y="0"/>
                </a:moveTo>
                <a:lnTo>
                  <a:pt x="0" y="1008"/>
                </a:lnTo>
                <a:lnTo>
                  <a:pt x="1584" y="1104"/>
                </a:lnTo>
                <a:lnTo>
                  <a:pt x="1440" y="0"/>
                </a:lnTo>
                <a:close/>
              </a:path>
            </a:pathLst>
          </a:custGeom>
          <a:gradFill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 cmpd="sng">
                <a:solidFill>
                  <a:schemeClr val="accent2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800350" y="3387725"/>
            <a:ext cx="400050" cy="457200"/>
            <a:chOff x="1392" y="2134"/>
            <a:chExt cx="336" cy="288"/>
          </a:xfrm>
        </p:grpSpPr>
        <p:sp>
          <p:nvSpPr>
            <p:cNvPr id="201734" name="Line 6"/>
            <p:cNvSpPr>
              <a:spLocks noChangeShapeType="1"/>
            </p:cNvSpPr>
            <p:nvPr/>
          </p:nvSpPr>
          <p:spPr bwMode="auto">
            <a:xfrm flipH="1">
              <a:off x="1392" y="2134"/>
              <a:ext cx="336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1735" name="Line 7"/>
            <p:cNvSpPr>
              <a:spLocks noChangeShapeType="1"/>
            </p:cNvSpPr>
            <p:nvPr/>
          </p:nvSpPr>
          <p:spPr bwMode="auto">
            <a:xfrm flipH="1" flipV="1">
              <a:off x="1392" y="2134"/>
              <a:ext cx="192" cy="28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1736" name="Arc 8"/>
            <p:cNvSpPr>
              <a:spLocks/>
            </p:cNvSpPr>
            <p:nvPr/>
          </p:nvSpPr>
          <p:spPr bwMode="auto">
            <a:xfrm flipH="1">
              <a:off x="1392" y="2134"/>
              <a:ext cx="192" cy="178"/>
            </a:xfrm>
            <a:custGeom>
              <a:avLst/>
              <a:gdLst>
                <a:gd name="G0" fmla="+- 21600 0 0"/>
                <a:gd name="G1" fmla="+- 950 0 0"/>
                <a:gd name="G2" fmla="+- 21600 0 0"/>
                <a:gd name="T0" fmla="*/ 6863 w 21600"/>
                <a:gd name="T1" fmla="*/ 16742 h 16742"/>
                <a:gd name="T2" fmla="*/ 21 w 21600"/>
                <a:gd name="T3" fmla="*/ 0 h 16742"/>
                <a:gd name="T4" fmla="*/ 21600 w 21600"/>
                <a:gd name="T5" fmla="*/ 950 h 16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6742" fill="none" extrusionOk="0">
                  <a:moveTo>
                    <a:pt x="6863" y="16741"/>
                  </a:moveTo>
                  <a:cubicBezTo>
                    <a:pt x="2485" y="12656"/>
                    <a:pt x="0" y="6937"/>
                    <a:pt x="0" y="950"/>
                  </a:cubicBezTo>
                  <a:cubicBezTo>
                    <a:pt x="0" y="633"/>
                    <a:pt x="6" y="316"/>
                    <a:pt x="20" y="-1"/>
                  </a:cubicBezTo>
                </a:path>
                <a:path w="21600" h="16742" stroke="0" extrusionOk="0">
                  <a:moveTo>
                    <a:pt x="6863" y="16741"/>
                  </a:moveTo>
                  <a:cubicBezTo>
                    <a:pt x="2485" y="12656"/>
                    <a:pt x="0" y="6937"/>
                    <a:pt x="0" y="950"/>
                  </a:cubicBezTo>
                  <a:cubicBezTo>
                    <a:pt x="0" y="633"/>
                    <a:pt x="6" y="316"/>
                    <a:pt x="20" y="-1"/>
                  </a:cubicBezTo>
                  <a:lnTo>
                    <a:pt x="21600" y="950"/>
                  </a:lnTo>
                  <a:close/>
                </a:path>
              </a:pathLst>
            </a:custGeom>
            <a:solidFill>
              <a:schemeClr val="accent1"/>
            </a:solidFill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1737" name="Text Box 9"/>
          <p:cNvSpPr txBox="1">
            <a:spLocks noChangeArrowheads="1"/>
          </p:cNvSpPr>
          <p:nvPr/>
        </p:nvSpPr>
        <p:spPr bwMode="auto">
          <a:xfrm>
            <a:off x="1881188" y="3192463"/>
            <a:ext cx="11031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accent1"/>
                </a:solidFill>
                <a:latin typeface="Tahoma" panose="020B0604030504040204" pitchFamily="34" charset="0"/>
              </a:rPr>
              <a:t>Viewer</a:t>
            </a:r>
          </a:p>
        </p:txBody>
      </p:sp>
      <p:pic>
        <p:nvPicPr>
          <p:cNvPr id="201738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865438"/>
            <a:ext cx="590550" cy="124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1739" name="Text Box 11"/>
          <p:cNvSpPr txBox="1">
            <a:spLocks noChangeArrowheads="1"/>
          </p:cNvSpPr>
          <p:nvPr/>
        </p:nvSpPr>
        <p:spPr bwMode="auto">
          <a:xfrm>
            <a:off x="6796087" y="3192463"/>
            <a:ext cx="8531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accent1"/>
                </a:solidFill>
                <a:latin typeface="Tahoma" panose="020B0604030504040204" pitchFamily="34" charset="0"/>
              </a:rPr>
              <a:t>Light</a:t>
            </a:r>
          </a:p>
        </p:txBody>
      </p:sp>
      <p:cxnSp>
        <p:nvCxnSpPr>
          <p:cNvPr id="201740" name="AutoShape 12"/>
          <p:cNvCxnSpPr>
            <a:cxnSpLocks noChangeShapeType="1"/>
            <a:stCxn id="201738" idx="1"/>
            <a:endCxn id="201746" idx="7"/>
          </p:cNvCxnSpPr>
          <p:nvPr/>
        </p:nvCxnSpPr>
        <p:spPr bwMode="auto">
          <a:xfrm flipH="1">
            <a:off x="4669632" y="3490913"/>
            <a:ext cx="1502569" cy="1179512"/>
          </a:xfrm>
          <a:prstGeom prst="straightConnector1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1743" name="Line 15"/>
          <p:cNvSpPr>
            <a:spLocks noChangeShapeType="1"/>
          </p:cNvSpPr>
          <p:nvPr/>
        </p:nvSpPr>
        <p:spPr bwMode="auto">
          <a:xfrm>
            <a:off x="3143250" y="3657600"/>
            <a:ext cx="1428750" cy="990600"/>
          </a:xfrm>
          <a:prstGeom prst="line">
            <a:avLst/>
          </a:prstGeom>
          <a:noFill/>
          <a:ln w="28575">
            <a:solidFill>
              <a:schemeClr val="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746" name="Oval 18"/>
          <p:cNvSpPr>
            <a:spLocks noChangeArrowheads="1"/>
          </p:cNvSpPr>
          <p:nvPr/>
        </p:nvSpPr>
        <p:spPr bwMode="auto">
          <a:xfrm>
            <a:off x="4572000" y="4648200"/>
            <a:ext cx="1143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1747" name="Line 19"/>
          <p:cNvSpPr>
            <a:spLocks noChangeShapeType="1"/>
          </p:cNvSpPr>
          <p:nvPr/>
        </p:nvSpPr>
        <p:spPr bwMode="auto">
          <a:xfrm flipV="1">
            <a:off x="4972050" y="3124200"/>
            <a:ext cx="114300" cy="762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748" name="Line 20"/>
          <p:cNvSpPr>
            <a:spLocks noChangeShapeType="1"/>
          </p:cNvSpPr>
          <p:nvPr/>
        </p:nvSpPr>
        <p:spPr bwMode="auto">
          <a:xfrm flipV="1">
            <a:off x="4686300" y="4267200"/>
            <a:ext cx="514350" cy="381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749" name="Line 21"/>
          <p:cNvSpPr>
            <a:spLocks noChangeShapeType="1"/>
          </p:cNvSpPr>
          <p:nvPr/>
        </p:nvSpPr>
        <p:spPr bwMode="auto">
          <a:xfrm flipH="1" flipV="1">
            <a:off x="4057650" y="4267200"/>
            <a:ext cx="514350" cy="381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750" name="Line 22"/>
          <p:cNvSpPr>
            <a:spLocks noChangeShapeType="1"/>
          </p:cNvSpPr>
          <p:nvPr/>
        </p:nvSpPr>
        <p:spPr bwMode="auto">
          <a:xfrm flipV="1">
            <a:off x="3257550" y="4724400"/>
            <a:ext cx="114300" cy="762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751" name="Line 23"/>
          <p:cNvSpPr>
            <a:spLocks noChangeShapeType="1"/>
          </p:cNvSpPr>
          <p:nvPr/>
        </p:nvSpPr>
        <p:spPr bwMode="auto">
          <a:xfrm flipV="1">
            <a:off x="5143500" y="4876800"/>
            <a:ext cx="114300" cy="762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752" name="Text Box 24"/>
          <p:cNvSpPr txBox="1">
            <a:spLocks noChangeArrowheads="1"/>
          </p:cNvSpPr>
          <p:nvPr/>
        </p:nvSpPr>
        <p:spPr bwMode="auto">
          <a:xfrm>
            <a:off x="4933951" y="2667000"/>
            <a:ext cx="5100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ko-KR" sz="24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1753" name="Text Box 25"/>
          <p:cNvSpPr txBox="1">
            <a:spLocks noChangeArrowheads="1"/>
          </p:cNvSpPr>
          <p:nvPr/>
        </p:nvSpPr>
        <p:spPr bwMode="auto">
          <a:xfrm>
            <a:off x="5143501" y="4419600"/>
            <a:ext cx="5100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ko-KR" sz="24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01754" name="Text Box 26"/>
          <p:cNvSpPr txBox="1">
            <a:spLocks noChangeArrowheads="1"/>
          </p:cNvSpPr>
          <p:nvPr/>
        </p:nvSpPr>
        <p:spPr bwMode="auto">
          <a:xfrm>
            <a:off x="3257551" y="4267200"/>
            <a:ext cx="5100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ko-KR" sz="24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1755" name="Text Box 27"/>
          <p:cNvSpPr txBox="1">
            <a:spLocks noChangeArrowheads="1"/>
          </p:cNvSpPr>
          <p:nvPr/>
        </p:nvSpPr>
        <p:spPr bwMode="auto">
          <a:xfrm>
            <a:off x="4095751" y="3810000"/>
            <a:ext cx="40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endParaRPr lang="en-US" altLang="ko-KR" sz="2400" baseline="-250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1756" name="Text Box 28"/>
          <p:cNvSpPr txBox="1">
            <a:spLocks noChangeArrowheads="1"/>
          </p:cNvSpPr>
          <p:nvPr/>
        </p:nvSpPr>
        <p:spPr bwMode="auto">
          <a:xfrm>
            <a:off x="5034876" y="3810002"/>
            <a:ext cx="3722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endParaRPr lang="en-US" altLang="ko-KR" sz="2400" baseline="-250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1757" name="Text Box 29"/>
          <p:cNvSpPr txBox="1">
            <a:spLocks noChangeArrowheads="1"/>
          </p:cNvSpPr>
          <p:nvPr/>
        </p:nvSpPr>
        <p:spPr bwMode="auto">
          <a:xfrm>
            <a:off x="3908822" y="5707063"/>
            <a:ext cx="12453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accent1"/>
                </a:solidFill>
                <a:latin typeface="Tahoma" panose="020B0604030504040204" pitchFamily="34" charset="0"/>
              </a:rPr>
              <a:t>Polygon</a:t>
            </a:r>
          </a:p>
        </p:txBody>
      </p:sp>
      <p:sp>
        <p:nvSpPr>
          <p:cNvPr id="201758" name="Line 30"/>
          <p:cNvSpPr>
            <a:spLocks noChangeShapeType="1"/>
          </p:cNvSpPr>
          <p:nvPr/>
        </p:nvSpPr>
        <p:spPr bwMode="auto">
          <a:xfrm flipV="1">
            <a:off x="4629150" y="3886200"/>
            <a:ext cx="57150" cy="8382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759" name="Text Box 31"/>
          <p:cNvSpPr txBox="1">
            <a:spLocks noChangeArrowheads="1"/>
          </p:cNvSpPr>
          <p:nvPr/>
        </p:nvSpPr>
        <p:spPr bwMode="auto">
          <a:xfrm>
            <a:off x="4514851" y="3429000"/>
            <a:ext cx="4074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endParaRPr lang="en-US" altLang="ko-KR" sz="2400" baseline="-250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101585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838200"/>
            <a:ext cx="7772400" cy="5181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85800"/>
            <a:ext cx="8153400" cy="5486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914400" y="274638"/>
            <a:ext cx="7772400" cy="487362"/>
          </a:xfrm>
          <a:prstGeom prst="rect">
            <a:avLst/>
          </a:prstGeom>
        </p:spPr>
        <p:txBody>
          <a:bodyPr bIns="91440" anchor="b" anchorCtr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PHONG SHADING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75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838201"/>
            <a:ext cx="84582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77724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sz="2800" b="1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PHONG SHADING</a:t>
            </a:r>
            <a:endParaRPr lang="ko-KR" altLang="en-US" sz="2800" b="1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447800"/>
            <a:ext cx="8305800" cy="4572000"/>
          </a:xfrm>
        </p:spPr>
        <p:txBody>
          <a:bodyPr/>
          <a:lstStyle/>
          <a:p>
            <a:r>
              <a:rPr lang="en-US" altLang="ko-KR" dirty="0" err="1">
                <a:ea typeface="굴림" pitchFamily="50" charset="-127"/>
              </a:rPr>
              <a:t>Bilinearly</a:t>
            </a:r>
            <a:r>
              <a:rPr lang="en-US" altLang="ko-KR" dirty="0">
                <a:ea typeface="굴림" pitchFamily="50" charset="-127"/>
              </a:rPr>
              <a:t> Interpolate </a:t>
            </a:r>
            <a:r>
              <a:rPr lang="en-US" altLang="ko-KR" dirty="0" err="1">
                <a:ea typeface="굴림" pitchFamily="50" charset="-127"/>
              </a:rPr>
              <a:t>Normals</a:t>
            </a:r>
            <a:r>
              <a:rPr lang="en-US" altLang="ko-KR" dirty="0">
                <a:ea typeface="굴림" pitchFamily="50" charset="-127"/>
              </a:rPr>
              <a:t> at Vertices Down and Across Scan Lines</a:t>
            </a:r>
            <a:endParaRPr lang="ko-KR" altLang="en-US" dirty="0">
              <a:ea typeface="굴림" pitchFamily="50" charset="-127"/>
            </a:endParaRPr>
          </a:p>
        </p:txBody>
      </p:sp>
      <p:sp>
        <p:nvSpPr>
          <p:cNvPr id="202756" name="Freeform 4"/>
          <p:cNvSpPr>
            <a:spLocks/>
          </p:cNvSpPr>
          <p:nvPr/>
        </p:nvSpPr>
        <p:spPr bwMode="auto">
          <a:xfrm>
            <a:off x="3257550" y="3886200"/>
            <a:ext cx="1885950" cy="1752600"/>
          </a:xfrm>
          <a:custGeom>
            <a:avLst/>
            <a:gdLst>
              <a:gd name="T0" fmla="*/ 1440 w 1584"/>
              <a:gd name="T1" fmla="*/ 0 h 1104"/>
              <a:gd name="T2" fmla="*/ 0 w 1584"/>
              <a:gd name="T3" fmla="*/ 1008 h 1104"/>
              <a:gd name="T4" fmla="*/ 1584 w 1584"/>
              <a:gd name="T5" fmla="*/ 1104 h 1104"/>
              <a:gd name="T6" fmla="*/ 1440 w 1584"/>
              <a:gd name="T7" fmla="*/ 0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84" h="1104">
                <a:moveTo>
                  <a:pt x="1440" y="0"/>
                </a:moveTo>
                <a:lnTo>
                  <a:pt x="0" y="1008"/>
                </a:lnTo>
                <a:lnTo>
                  <a:pt x="1584" y="1104"/>
                </a:lnTo>
                <a:lnTo>
                  <a:pt x="1440" y="0"/>
                </a:lnTo>
                <a:close/>
              </a:path>
            </a:pathLst>
          </a:custGeom>
          <a:gradFill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28575" cmpd="sng">
                <a:solidFill>
                  <a:schemeClr val="accent2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837260" y="3533775"/>
            <a:ext cx="3342084" cy="2305050"/>
            <a:chOff x="1470" y="1758"/>
            <a:chExt cx="2807" cy="1452"/>
          </a:xfrm>
        </p:grpSpPr>
        <p:sp>
          <p:nvSpPr>
            <p:cNvPr id="202758" name="Rectangle 6"/>
            <p:cNvSpPr>
              <a:spLocks noChangeArrowheads="1"/>
            </p:cNvSpPr>
            <p:nvPr/>
          </p:nvSpPr>
          <p:spPr bwMode="auto">
            <a:xfrm>
              <a:off x="1470" y="1758"/>
              <a:ext cx="2807" cy="145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759" name="Line 7"/>
            <p:cNvSpPr>
              <a:spLocks noChangeShapeType="1"/>
            </p:cNvSpPr>
            <p:nvPr/>
          </p:nvSpPr>
          <p:spPr bwMode="auto">
            <a:xfrm flipH="1">
              <a:off x="1746" y="176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760" name="Line 8"/>
            <p:cNvSpPr>
              <a:spLocks noChangeShapeType="1"/>
            </p:cNvSpPr>
            <p:nvPr/>
          </p:nvSpPr>
          <p:spPr bwMode="auto">
            <a:xfrm flipH="1">
              <a:off x="2028" y="1758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761" name="Line 9"/>
            <p:cNvSpPr>
              <a:spLocks noChangeShapeType="1"/>
            </p:cNvSpPr>
            <p:nvPr/>
          </p:nvSpPr>
          <p:spPr bwMode="auto">
            <a:xfrm flipH="1">
              <a:off x="2310" y="176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762" name="Line 10"/>
            <p:cNvSpPr>
              <a:spLocks noChangeShapeType="1"/>
            </p:cNvSpPr>
            <p:nvPr/>
          </p:nvSpPr>
          <p:spPr bwMode="auto">
            <a:xfrm flipH="1">
              <a:off x="2592" y="1758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763" name="Line 11"/>
            <p:cNvSpPr>
              <a:spLocks noChangeShapeType="1"/>
            </p:cNvSpPr>
            <p:nvPr/>
          </p:nvSpPr>
          <p:spPr bwMode="auto">
            <a:xfrm flipH="1">
              <a:off x="2874" y="176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764" name="Line 12"/>
            <p:cNvSpPr>
              <a:spLocks noChangeShapeType="1"/>
            </p:cNvSpPr>
            <p:nvPr/>
          </p:nvSpPr>
          <p:spPr bwMode="auto">
            <a:xfrm flipH="1">
              <a:off x="3156" y="1758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765" name="Line 13"/>
            <p:cNvSpPr>
              <a:spLocks noChangeShapeType="1"/>
            </p:cNvSpPr>
            <p:nvPr/>
          </p:nvSpPr>
          <p:spPr bwMode="auto">
            <a:xfrm flipH="1">
              <a:off x="3432" y="176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766" name="Line 14"/>
            <p:cNvSpPr>
              <a:spLocks noChangeShapeType="1"/>
            </p:cNvSpPr>
            <p:nvPr/>
          </p:nvSpPr>
          <p:spPr bwMode="auto">
            <a:xfrm flipH="1">
              <a:off x="3714" y="1770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767" name="Line 15"/>
            <p:cNvSpPr>
              <a:spLocks noChangeShapeType="1"/>
            </p:cNvSpPr>
            <p:nvPr/>
          </p:nvSpPr>
          <p:spPr bwMode="auto">
            <a:xfrm flipH="1">
              <a:off x="3996" y="176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768" name="Line 16"/>
            <p:cNvSpPr>
              <a:spLocks noChangeShapeType="1"/>
            </p:cNvSpPr>
            <p:nvPr/>
          </p:nvSpPr>
          <p:spPr bwMode="auto">
            <a:xfrm>
              <a:off x="1488" y="2964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769" name="Line 17"/>
            <p:cNvSpPr>
              <a:spLocks noChangeShapeType="1"/>
            </p:cNvSpPr>
            <p:nvPr/>
          </p:nvSpPr>
          <p:spPr bwMode="auto">
            <a:xfrm>
              <a:off x="1488" y="2724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770" name="Line 18"/>
            <p:cNvSpPr>
              <a:spLocks noChangeShapeType="1"/>
            </p:cNvSpPr>
            <p:nvPr/>
          </p:nvSpPr>
          <p:spPr bwMode="auto">
            <a:xfrm>
              <a:off x="1488" y="2484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771" name="Line 19"/>
            <p:cNvSpPr>
              <a:spLocks noChangeShapeType="1"/>
            </p:cNvSpPr>
            <p:nvPr/>
          </p:nvSpPr>
          <p:spPr bwMode="auto">
            <a:xfrm>
              <a:off x="1488" y="2244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772" name="Line 20"/>
            <p:cNvSpPr>
              <a:spLocks noChangeShapeType="1"/>
            </p:cNvSpPr>
            <p:nvPr/>
          </p:nvSpPr>
          <p:spPr bwMode="auto">
            <a:xfrm>
              <a:off x="1488" y="2010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2773" name="Oval 21"/>
          <p:cNvSpPr>
            <a:spLocks noChangeArrowheads="1"/>
          </p:cNvSpPr>
          <p:nvPr/>
        </p:nvSpPr>
        <p:spPr bwMode="auto">
          <a:xfrm>
            <a:off x="4972050" y="4419600"/>
            <a:ext cx="1143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774" name="Oval 22"/>
          <p:cNvSpPr>
            <a:spLocks noChangeArrowheads="1"/>
          </p:cNvSpPr>
          <p:nvPr/>
        </p:nvSpPr>
        <p:spPr bwMode="auto">
          <a:xfrm>
            <a:off x="4286250" y="4419600"/>
            <a:ext cx="1143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775" name="Oval 23"/>
          <p:cNvSpPr>
            <a:spLocks noChangeArrowheads="1"/>
          </p:cNvSpPr>
          <p:nvPr/>
        </p:nvSpPr>
        <p:spPr bwMode="auto">
          <a:xfrm>
            <a:off x="4614863" y="4419600"/>
            <a:ext cx="1143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779" name="Text Box 27"/>
          <p:cNvSpPr txBox="1">
            <a:spLocks noChangeArrowheads="1"/>
          </p:cNvSpPr>
          <p:nvPr/>
        </p:nvSpPr>
        <p:spPr bwMode="auto">
          <a:xfrm>
            <a:off x="4477941" y="3733800"/>
            <a:ext cx="3465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2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en-US" altLang="ko-KR" sz="2400" baseline="-2500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2780" name="Text Box 28"/>
          <p:cNvSpPr txBox="1">
            <a:spLocks noChangeArrowheads="1"/>
          </p:cNvSpPr>
          <p:nvPr/>
        </p:nvSpPr>
        <p:spPr bwMode="auto">
          <a:xfrm>
            <a:off x="4972050" y="3733800"/>
            <a:ext cx="3417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2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altLang="ko-KR" sz="2400" baseline="-2500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2781" name="Object 29"/>
          <p:cNvGraphicFramePr>
            <a:graphicFrameLocks noChangeAspect="1"/>
          </p:cNvGraphicFramePr>
          <p:nvPr/>
        </p:nvGraphicFramePr>
        <p:xfrm>
          <a:off x="2449117" y="2605088"/>
          <a:ext cx="2001440" cy="481012"/>
        </p:xfrm>
        <a:graphic>
          <a:graphicData uri="http://schemas.openxmlformats.org/presentationml/2006/ole">
            <p:oleObj spid="_x0000_s34818" name="Equation" r:id="rId3" imgW="1124280" imgH="199080" progId="Equation.3">
              <p:embed/>
            </p:oleObj>
          </a:graphicData>
        </a:graphic>
      </p:graphicFrame>
      <p:cxnSp>
        <p:nvCxnSpPr>
          <p:cNvPr id="202782" name="AutoShape 30"/>
          <p:cNvCxnSpPr>
            <a:cxnSpLocks noChangeShapeType="1"/>
            <a:stCxn id="0" idx="2"/>
            <a:endCxn id="202774" idx="1"/>
          </p:cNvCxnSpPr>
          <p:nvPr/>
        </p:nvCxnSpPr>
        <p:spPr bwMode="auto">
          <a:xfrm>
            <a:off x="3450431" y="3086102"/>
            <a:ext cx="852488" cy="1355725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202783" name="Object 31"/>
          <p:cNvGraphicFramePr>
            <a:graphicFrameLocks noChangeAspect="1"/>
          </p:cNvGraphicFramePr>
          <p:nvPr/>
        </p:nvGraphicFramePr>
        <p:xfrm>
          <a:off x="5535217" y="2590800"/>
          <a:ext cx="2001440" cy="509588"/>
        </p:xfrm>
        <a:graphic>
          <a:graphicData uri="http://schemas.openxmlformats.org/presentationml/2006/ole">
            <p:oleObj spid="_x0000_s34819" name="Equation" r:id="rId4" imgW="1124280" imgH="208080" progId="Equation.3">
              <p:embed/>
            </p:oleObj>
          </a:graphicData>
        </a:graphic>
      </p:graphicFrame>
      <p:cxnSp>
        <p:nvCxnSpPr>
          <p:cNvPr id="202784" name="AutoShape 32"/>
          <p:cNvCxnSpPr>
            <a:cxnSpLocks noChangeShapeType="1"/>
            <a:stCxn id="0" idx="2"/>
            <a:endCxn id="202773" idx="7"/>
          </p:cNvCxnSpPr>
          <p:nvPr/>
        </p:nvCxnSpPr>
        <p:spPr bwMode="auto">
          <a:xfrm flipH="1">
            <a:off x="5069681" y="3100390"/>
            <a:ext cx="1466850" cy="1341437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2785" name="Line 33"/>
          <p:cNvSpPr>
            <a:spLocks noChangeShapeType="1"/>
          </p:cNvSpPr>
          <p:nvPr/>
        </p:nvSpPr>
        <p:spPr bwMode="auto">
          <a:xfrm>
            <a:off x="4343400" y="4495800"/>
            <a:ext cx="6858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786" name="Text Box 34"/>
          <p:cNvSpPr txBox="1">
            <a:spLocks noChangeArrowheads="1"/>
          </p:cNvSpPr>
          <p:nvPr/>
        </p:nvSpPr>
        <p:spPr bwMode="auto">
          <a:xfrm>
            <a:off x="4743451" y="4038600"/>
            <a:ext cx="3209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2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endParaRPr lang="en-US" altLang="ko-KR" sz="2400" baseline="-2500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2787" name="AutoShape 35"/>
          <p:cNvCxnSpPr>
            <a:cxnSpLocks noChangeShapeType="1"/>
            <a:stCxn id="202775" idx="4"/>
            <a:endCxn id="0" idx="0"/>
          </p:cNvCxnSpPr>
          <p:nvPr/>
        </p:nvCxnSpPr>
        <p:spPr bwMode="auto">
          <a:xfrm>
            <a:off x="4672013" y="4572002"/>
            <a:ext cx="295275" cy="1357313"/>
          </a:xfrm>
          <a:prstGeom prst="straightConnector1">
            <a:avLst/>
          </a:prstGeom>
          <a:noFill/>
          <a:ln w="19050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202788" name="Object 36"/>
          <p:cNvGraphicFramePr>
            <a:graphicFrameLocks noChangeAspect="1"/>
          </p:cNvGraphicFramePr>
          <p:nvPr/>
        </p:nvGraphicFramePr>
        <p:xfrm>
          <a:off x="4062413" y="5943602"/>
          <a:ext cx="1809750" cy="481013"/>
        </p:xfrm>
        <a:graphic>
          <a:graphicData uri="http://schemas.openxmlformats.org/presentationml/2006/ole">
            <p:oleObj spid="_x0000_s34820" name="Equation" r:id="rId5" imgW="1079032" imgH="215806" progId="Equation.3">
              <p:embed/>
            </p:oleObj>
          </a:graphicData>
        </a:graphic>
      </p:graphicFrame>
      <p:sp>
        <p:nvSpPr>
          <p:cNvPr id="202789" name="Line 37"/>
          <p:cNvSpPr>
            <a:spLocks noChangeShapeType="1"/>
          </p:cNvSpPr>
          <p:nvPr/>
        </p:nvSpPr>
        <p:spPr bwMode="auto">
          <a:xfrm flipV="1">
            <a:off x="4972050" y="3124200"/>
            <a:ext cx="114300" cy="762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790" name="Text Box 38"/>
          <p:cNvSpPr txBox="1">
            <a:spLocks noChangeArrowheads="1"/>
          </p:cNvSpPr>
          <p:nvPr/>
        </p:nvSpPr>
        <p:spPr bwMode="auto">
          <a:xfrm>
            <a:off x="4933951" y="2667000"/>
            <a:ext cx="5100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ko-KR" sz="24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2791" name="Line 39"/>
          <p:cNvSpPr>
            <a:spLocks noChangeShapeType="1"/>
          </p:cNvSpPr>
          <p:nvPr/>
        </p:nvSpPr>
        <p:spPr bwMode="auto">
          <a:xfrm flipV="1">
            <a:off x="3257550" y="4724400"/>
            <a:ext cx="114300" cy="762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792" name="Text Box 40"/>
          <p:cNvSpPr txBox="1">
            <a:spLocks noChangeArrowheads="1"/>
          </p:cNvSpPr>
          <p:nvPr/>
        </p:nvSpPr>
        <p:spPr bwMode="auto">
          <a:xfrm>
            <a:off x="3257551" y="4267200"/>
            <a:ext cx="5100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ko-KR" sz="24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2793" name="Line 41"/>
          <p:cNvSpPr>
            <a:spLocks noChangeShapeType="1"/>
          </p:cNvSpPr>
          <p:nvPr/>
        </p:nvSpPr>
        <p:spPr bwMode="auto">
          <a:xfrm flipV="1">
            <a:off x="5143500" y="4876800"/>
            <a:ext cx="114300" cy="762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794" name="Text Box 42"/>
          <p:cNvSpPr txBox="1">
            <a:spLocks noChangeArrowheads="1"/>
          </p:cNvSpPr>
          <p:nvPr/>
        </p:nvSpPr>
        <p:spPr bwMode="auto">
          <a:xfrm>
            <a:off x="5143501" y="4419600"/>
            <a:ext cx="5100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ko-KR" sz="24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02795" name="Line 43"/>
          <p:cNvSpPr>
            <a:spLocks noChangeShapeType="1"/>
          </p:cNvSpPr>
          <p:nvPr/>
        </p:nvSpPr>
        <p:spPr bwMode="auto">
          <a:xfrm flipV="1">
            <a:off x="4343400" y="3657600"/>
            <a:ext cx="57150" cy="8382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796" name="Line 44"/>
          <p:cNvSpPr>
            <a:spLocks noChangeShapeType="1"/>
          </p:cNvSpPr>
          <p:nvPr/>
        </p:nvSpPr>
        <p:spPr bwMode="auto">
          <a:xfrm flipV="1">
            <a:off x="5029200" y="3733800"/>
            <a:ext cx="228600" cy="762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797" name="Line 45"/>
          <p:cNvSpPr>
            <a:spLocks noChangeShapeType="1"/>
          </p:cNvSpPr>
          <p:nvPr/>
        </p:nvSpPr>
        <p:spPr bwMode="auto">
          <a:xfrm flipV="1">
            <a:off x="4686300" y="3657600"/>
            <a:ext cx="171450" cy="8382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77724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sz="2800" b="1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PHONG SHADING</a:t>
            </a:r>
            <a:endParaRPr lang="ko-KR" altLang="en-US" sz="2800" b="1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227054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85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381000"/>
            <a:ext cx="8077199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7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258" y="1981202"/>
            <a:ext cx="2478881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378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258" y="4038600"/>
            <a:ext cx="2478881" cy="194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378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9" y="1981200"/>
            <a:ext cx="2493169" cy="192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378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7" y="4038602"/>
            <a:ext cx="2500313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3784" name="Text Box 8"/>
          <p:cNvSpPr txBox="1">
            <a:spLocks noChangeArrowheads="1"/>
          </p:cNvSpPr>
          <p:nvPr/>
        </p:nvSpPr>
        <p:spPr bwMode="auto">
          <a:xfrm>
            <a:off x="2815830" y="6011863"/>
            <a:ext cx="13367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accent1"/>
                </a:solidFill>
                <a:latin typeface="Tahoma" panose="020B0604030504040204" pitchFamily="34" charset="0"/>
              </a:rPr>
              <a:t>Gouraud</a:t>
            </a:r>
          </a:p>
        </p:txBody>
      </p:sp>
      <p:sp>
        <p:nvSpPr>
          <p:cNvPr id="203785" name="Text Box 9"/>
          <p:cNvSpPr txBox="1">
            <a:spLocks noChangeArrowheads="1"/>
          </p:cNvSpPr>
          <p:nvPr/>
        </p:nvSpPr>
        <p:spPr bwMode="auto">
          <a:xfrm>
            <a:off x="2724150" y="1439863"/>
            <a:ext cx="15871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accent1"/>
                </a:solidFill>
                <a:latin typeface="Tahoma" panose="020B0604030504040204" pitchFamily="34" charset="0"/>
              </a:rPr>
              <a:t>Wireframe</a:t>
            </a:r>
          </a:p>
        </p:txBody>
      </p:sp>
      <p:sp>
        <p:nvSpPr>
          <p:cNvPr id="203786" name="Text Box 10"/>
          <p:cNvSpPr txBox="1">
            <a:spLocks noChangeArrowheads="1"/>
          </p:cNvSpPr>
          <p:nvPr/>
        </p:nvSpPr>
        <p:spPr bwMode="auto">
          <a:xfrm>
            <a:off x="5499498" y="6011863"/>
            <a:ext cx="10342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accent1"/>
                </a:solidFill>
                <a:latin typeface="Tahoma" panose="020B0604030504040204" pitchFamily="34" charset="0"/>
              </a:rPr>
              <a:t>Phong</a:t>
            </a:r>
          </a:p>
        </p:txBody>
      </p:sp>
      <p:sp>
        <p:nvSpPr>
          <p:cNvPr id="203787" name="Text Box 11"/>
          <p:cNvSpPr txBox="1">
            <a:spLocks noChangeArrowheads="1"/>
          </p:cNvSpPr>
          <p:nvPr/>
        </p:nvSpPr>
        <p:spPr bwMode="auto">
          <a:xfrm>
            <a:off x="5637611" y="1439863"/>
            <a:ext cx="6799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2400">
                <a:solidFill>
                  <a:schemeClr val="accent1"/>
                </a:solidFill>
                <a:latin typeface="Tahoma" panose="020B0604030504040204" pitchFamily="34" charset="0"/>
              </a:rPr>
              <a:t>Flat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77724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sz="2800" b="1" dirty="0" smtClean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PHONG SHADING</a:t>
            </a:r>
            <a:endParaRPr lang="ko-KR" altLang="en-US" sz="2800" b="1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173440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en-US" sz="4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US" sz="4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511</TotalTime>
  <Words>420</Words>
  <Application>Microsoft Office PowerPoint</Application>
  <PresentationFormat>On-screen Show (4:3)</PresentationFormat>
  <Paragraphs>116</Paragraphs>
  <Slides>54</Slides>
  <Notes>8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Equity</vt:lpstr>
      <vt:lpstr>Image</vt:lpstr>
      <vt:lpstr>Equation</vt:lpstr>
      <vt:lpstr>Photometric image formation</vt:lpstr>
      <vt:lpstr>Photometric image formation</vt:lpstr>
      <vt:lpstr>Overview </vt:lpstr>
      <vt:lpstr>Overview 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Overview </vt:lpstr>
      <vt:lpstr>SURFACE RENDERING: SHADING</vt:lpstr>
      <vt:lpstr>Polygon Shading Algorithms</vt:lpstr>
      <vt:lpstr>How often do we do the computation of illumination?  </vt:lpstr>
      <vt:lpstr>FLAT SHADING</vt:lpstr>
      <vt:lpstr>Slide 39</vt:lpstr>
      <vt:lpstr>SHADING POLYHEDRON</vt:lpstr>
      <vt:lpstr>Slide 41</vt:lpstr>
      <vt:lpstr>GOURAUD SHADING</vt:lpstr>
      <vt:lpstr>GOURAUD SHADING</vt:lpstr>
      <vt:lpstr>GOURAUD SHADING</vt:lpstr>
      <vt:lpstr>Slide 45</vt:lpstr>
      <vt:lpstr>GOURAUD SHADING</vt:lpstr>
      <vt:lpstr>PHONG SHADING</vt:lpstr>
      <vt:lpstr>PHONG SHADING</vt:lpstr>
      <vt:lpstr>Slide 49</vt:lpstr>
      <vt:lpstr>PHONG SHADING</vt:lpstr>
      <vt:lpstr>PHONG SHADING</vt:lpstr>
      <vt:lpstr>Slide 52</vt:lpstr>
      <vt:lpstr>PHONG SHADING</vt:lpstr>
      <vt:lpstr>Slide 54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Photometric image formation</dc:title>
  <dc:creator>Admin</dc:creator>
  <cp:lastModifiedBy>Admin</cp:lastModifiedBy>
  <cp:revision>12</cp:revision>
  <dcterms:created xsi:type="dcterms:W3CDTF">2006-08-16T00:00:00Z</dcterms:created>
  <dcterms:modified xsi:type="dcterms:W3CDTF">2025-01-24T05:29:22Z</dcterms:modified>
</cp:coreProperties>
</file>